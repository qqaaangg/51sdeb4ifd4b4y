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sldIdLst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F18BD-A940-F9C9-8BFC-325B790D4682}" v="83" dt="2026-08-03T05:53:38.626"/>
    <p1510:client id="{55F0E74B-5B3F-AA86-2081-1E32D01494CA}" v="262" dt="2026-08-04T17:49:47.442"/>
    <p1510:client id="{CA046273-2DA7-86E2-BBF7-E84A730E020E}" v="18" dt="2026-08-04T05:40:09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F938E8-AE11-4448-A5BC-B6D81A2289F6}" type="datetimeFigureOut">
              <a:t>8/4/2026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5C8713-2EFC-408A-B431-9D35FB8EB46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341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解答集: Day 1 / 図解演習① ヒント・解答例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解答集: Day 1 / Q1 ヒント・解答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解答集: Day 1 / Q2 ヒント・解答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解答集: Day 1 / Q3 ヒント・解答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解答集: Day 1 / Q4 解答（発展問題・ヒントなし）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解答集: Day 2 / 図解演習② ヒント・解答例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解答集: Day 2 / Q1 解答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解答集: Day 2 / Q2 解答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解答集: Day 2 / Q3 解答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解答集: Day 2 / Q4 解答（発展問題）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解答集: Day 3 / 演習① ヒント・解答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解答集: Day 3 / Q1 解答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解答集: Day 3 / Q2 解答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解答集: Day 3 / Q3 解答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解答集: Day 3 / Q4 解答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解答集: Day 4 / 演習① ヒント・解答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解答集: Day 4 / Q1 解答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解答集: Day 4 / Q2 解答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解答集: Day 4 / Q3 解答（4日間の総合問題）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解答集: Day 4 / Q4 解答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Answer Field"/>
          <p:cNvSpPr>
            <a:spLocks noGrp="1"/>
          </p:cNvSpPr>
          <p:nvPr>
            <p:ph type="body" idx="10"/>
          </p:nvPr>
        </p:nvSpPr>
        <p:spPr>
          <a:xfrm>
            <a:off x="804672" y="2880360"/>
            <a:ext cx="10579608" cy="1783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1150" b="0" kern="1200">
                <a:solidFill>
                  <a:srgbClr val="24303A"/>
                </a:solidFill>
                <a:latin typeface="Calibri" pitchFamily="34" charset="0"/>
                <a:ea typeface="Yu Gothic" pitchFamily="34" charset="-128"/>
                <a:cs typeface="Calibri" pitchFamily="34" charset="0"/>
              </a:defRPr>
            </a:lvl1pPr>
            <a:lvl2pPr marL="228600" indent="0" algn="l">
              <a:lnSpc>
                <a:spcPct val="130000"/>
              </a:lnSpc>
              <a:spcBef>
                <a:spcPts val="0"/>
              </a:spcBef>
              <a:buNone/>
              <a:defRPr sz="1150" b="0" kern="1200">
                <a:solidFill>
                  <a:srgbClr val="24303A"/>
                </a:solidFill>
                <a:latin typeface="Calibri" pitchFamily="34" charset="0"/>
                <a:ea typeface="Yu Gothic" pitchFamily="34" charset="-128"/>
                <a:cs typeface="Calibri" pitchFamily="34" charset="0"/>
              </a:defRPr>
            </a:lvl2pPr>
            <a:lvl3pPr marL="457200" indent="0" algn="l">
              <a:lnSpc>
                <a:spcPct val="130000"/>
              </a:lnSpc>
              <a:spcBef>
                <a:spcPts val="0"/>
              </a:spcBef>
              <a:buNone/>
              <a:defRPr sz="1150" b="0" kern="1200">
                <a:solidFill>
                  <a:srgbClr val="24303A"/>
                </a:solidFill>
                <a:latin typeface="Calibri" pitchFamily="34" charset="0"/>
                <a:ea typeface="Yu Gothic" pitchFamily="34" charset="-128"/>
                <a:cs typeface="Calibri" pitchFamily="34" charset="0"/>
              </a:defRPr>
            </a:lvl3pPr>
          </a:lstStyle>
          <a:p>
            <a:pPr lvl="0"/>
            <a:r>
              <a:rPr lang="en-US"/>
              <a:t>Click to enter your answer</a:t>
            </a:r>
          </a:p>
        </p:txBody>
      </p:sp>
      <p:sp>
        <p:nvSpPr>
          <p:cNvPr id="101" name="Answer Field a"/>
          <p:cNvSpPr>
            <a:spLocks noGrp="1"/>
          </p:cNvSpPr>
          <p:nvPr>
            <p:ph type="body" idx="11"/>
          </p:nvPr>
        </p:nvSpPr>
        <p:spPr>
          <a:xfrm>
            <a:off x="1115568" y="2185416"/>
            <a:ext cx="10341864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00" b="0" kern="1200">
                <a:solidFill>
                  <a:srgbClr val="24303A"/>
                </a:solidFill>
                <a:latin typeface="Calibri" pitchFamily="34" charset="0"/>
                <a:ea typeface="Yu Gothic" pitchFamily="34" charset="-128"/>
                <a:cs typeface="Calibri" pitchFamily="34" charset="0"/>
              </a:defRPr>
            </a:lvl1pPr>
            <a:lvl2pPr marL="228600" indent="0" algn="l">
              <a:lnSpc>
                <a:spcPct val="120000"/>
              </a:lnSpc>
              <a:spcBef>
                <a:spcPts val="0"/>
              </a:spcBef>
              <a:buNone/>
              <a:defRPr sz="1000" b="0" kern="1200">
                <a:solidFill>
                  <a:srgbClr val="24303A"/>
                </a:solidFill>
                <a:latin typeface="Calibri" pitchFamily="34" charset="0"/>
                <a:ea typeface="Yu Gothic" pitchFamily="34" charset="-128"/>
                <a:cs typeface="Calibri" pitchFamily="34" charset="0"/>
              </a:defRPr>
            </a:lvl2pPr>
            <a:lvl3pPr marL="457200" indent="0" algn="l">
              <a:lnSpc>
                <a:spcPct val="120000"/>
              </a:lnSpc>
              <a:spcBef>
                <a:spcPts val="0"/>
              </a:spcBef>
              <a:buNone/>
              <a:defRPr sz="1000" b="0" kern="1200">
                <a:solidFill>
                  <a:srgbClr val="24303A"/>
                </a:solidFill>
                <a:latin typeface="Calibri" pitchFamily="34" charset="0"/>
                <a:ea typeface="Yu Gothic" pitchFamily="34" charset="-128"/>
                <a:cs typeface="Calibri" pitchFamily="34" charset="0"/>
              </a:defRPr>
            </a:lvl3pPr>
          </a:lstStyle>
          <a:p>
            <a:pPr lvl="0"/>
            <a:r>
              <a:rPr lang="en-US"/>
              <a:t>Click to enter your answer</a:t>
            </a:r>
          </a:p>
        </p:txBody>
      </p:sp>
      <p:sp>
        <p:nvSpPr>
          <p:cNvPr id="102" name="Answer Field b"/>
          <p:cNvSpPr>
            <a:spLocks noGrp="1"/>
          </p:cNvSpPr>
          <p:nvPr>
            <p:ph type="body" idx="12"/>
          </p:nvPr>
        </p:nvSpPr>
        <p:spPr>
          <a:xfrm>
            <a:off x="1115568" y="3282696"/>
            <a:ext cx="10341864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00" b="0" kern="1200">
                <a:solidFill>
                  <a:srgbClr val="24303A"/>
                </a:solidFill>
                <a:latin typeface="Calibri" pitchFamily="34" charset="0"/>
                <a:ea typeface="Yu Gothic" pitchFamily="34" charset="-128"/>
                <a:cs typeface="Calibri" pitchFamily="34" charset="0"/>
              </a:defRPr>
            </a:lvl1pPr>
            <a:lvl2pPr marL="228600" indent="0" algn="l">
              <a:lnSpc>
                <a:spcPct val="120000"/>
              </a:lnSpc>
              <a:spcBef>
                <a:spcPts val="0"/>
              </a:spcBef>
              <a:buNone/>
              <a:defRPr sz="1000" b="0" kern="1200">
                <a:solidFill>
                  <a:srgbClr val="24303A"/>
                </a:solidFill>
                <a:latin typeface="Calibri" pitchFamily="34" charset="0"/>
                <a:ea typeface="Yu Gothic" pitchFamily="34" charset="-128"/>
                <a:cs typeface="Calibri" pitchFamily="34" charset="0"/>
              </a:defRPr>
            </a:lvl2pPr>
            <a:lvl3pPr marL="457200" indent="0" algn="l">
              <a:lnSpc>
                <a:spcPct val="120000"/>
              </a:lnSpc>
              <a:spcBef>
                <a:spcPts val="0"/>
              </a:spcBef>
              <a:buNone/>
              <a:defRPr sz="1000" b="0" kern="1200">
                <a:solidFill>
                  <a:srgbClr val="24303A"/>
                </a:solidFill>
                <a:latin typeface="Calibri" pitchFamily="34" charset="0"/>
                <a:ea typeface="Yu Gothic" pitchFamily="34" charset="-128"/>
                <a:cs typeface="Calibri" pitchFamily="34" charset="0"/>
              </a:defRPr>
            </a:lvl3pPr>
          </a:lstStyle>
          <a:p>
            <a:pPr lvl="0"/>
            <a:r>
              <a:rPr lang="en-US"/>
              <a:t>Click to enter your answer</a:t>
            </a:r>
          </a:p>
        </p:txBody>
      </p:sp>
      <p:sp>
        <p:nvSpPr>
          <p:cNvPr id="103" name="Answer Field c"/>
          <p:cNvSpPr>
            <a:spLocks noGrp="1"/>
          </p:cNvSpPr>
          <p:nvPr>
            <p:ph type="body" idx="13"/>
          </p:nvPr>
        </p:nvSpPr>
        <p:spPr>
          <a:xfrm>
            <a:off x="1115568" y="4379976"/>
            <a:ext cx="10341864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00" b="0" kern="1200">
                <a:solidFill>
                  <a:srgbClr val="24303A"/>
                </a:solidFill>
                <a:latin typeface="Calibri" pitchFamily="34" charset="0"/>
                <a:ea typeface="Yu Gothic" pitchFamily="34" charset="-128"/>
                <a:cs typeface="Calibri" pitchFamily="34" charset="0"/>
              </a:defRPr>
            </a:lvl1pPr>
            <a:lvl2pPr marL="228600" indent="0" algn="l">
              <a:lnSpc>
                <a:spcPct val="120000"/>
              </a:lnSpc>
              <a:spcBef>
                <a:spcPts val="0"/>
              </a:spcBef>
              <a:buNone/>
              <a:defRPr sz="1000" b="0" kern="1200">
                <a:solidFill>
                  <a:srgbClr val="24303A"/>
                </a:solidFill>
                <a:latin typeface="Calibri" pitchFamily="34" charset="0"/>
                <a:ea typeface="Yu Gothic" pitchFamily="34" charset="-128"/>
                <a:cs typeface="Calibri" pitchFamily="34" charset="0"/>
              </a:defRPr>
            </a:lvl2pPr>
            <a:lvl3pPr marL="457200" indent="0" algn="l">
              <a:lnSpc>
                <a:spcPct val="120000"/>
              </a:lnSpc>
              <a:spcBef>
                <a:spcPts val="0"/>
              </a:spcBef>
              <a:buNone/>
              <a:defRPr sz="1000" b="0" kern="1200">
                <a:solidFill>
                  <a:srgbClr val="24303A"/>
                </a:solidFill>
                <a:latin typeface="Calibri" pitchFamily="34" charset="0"/>
                <a:ea typeface="Yu Gothic" pitchFamily="34" charset="-128"/>
                <a:cs typeface="Calibri" pitchFamily="34" charset="0"/>
              </a:defRPr>
            </a:lvl3pPr>
          </a:lstStyle>
          <a:p>
            <a:pPr lvl="0"/>
            <a:r>
              <a:rPr lang="en-US"/>
              <a:t>Click to enter your answer</a:t>
            </a:r>
          </a:p>
        </p:txBody>
      </p:sp>
      <p:sp>
        <p:nvSpPr>
          <p:cNvPr id="104" name="Diagram / Notes Field"/>
          <p:cNvSpPr>
            <a:spLocks noGrp="1"/>
          </p:cNvSpPr>
          <p:nvPr>
            <p:ph type="body" idx="14"/>
          </p:nvPr>
        </p:nvSpPr>
        <p:spPr>
          <a:xfrm>
            <a:off x="5029200" y="2505456"/>
            <a:ext cx="6382512" cy="21122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buNone/>
              <a:defRPr sz="900" b="0" kern="1200">
                <a:solidFill>
                  <a:srgbClr val="24303A"/>
                </a:solidFill>
                <a:latin typeface="Courier New" pitchFamily="34" charset="0"/>
                <a:ea typeface="Yu Gothic" pitchFamily="34" charset="-128"/>
                <a:cs typeface="Courier New" pitchFamily="34" charset="0"/>
              </a:defRPr>
            </a:lvl1pPr>
            <a:lvl2pPr marL="228600" indent="0" algn="l">
              <a:lnSpc>
                <a:spcPct val="105000"/>
              </a:lnSpc>
              <a:spcBef>
                <a:spcPts val="0"/>
              </a:spcBef>
              <a:buNone/>
              <a:defRPr sz="900" b="0" kern="1200">
                <a:solidFill>
                  <a:srgbClr val="24303A"/>
                </a:solidFill>
                <a:latin typeface="Courier New" pitchFamily="34" charset="0"/>
                <a:ea typeface="Yu Gothic" pitchFamily="34" charset="-128"/>
                <a:cs typeface="Courier New" pitchFamily="34" charset="0"/>
              </a:defRPr>
            </a:lvl2pPr>
            <a:lvl3pPr marL="457200" indent="0" algn="l">
              <a:lnSpc>
                <a:spcPct val="105000"/>
              </a:lnSpc>
              <a:spcBef>
                <a:spcPts val="0"/>
              </a:spcBef>
              <a:buNone/>
              <a:defRPr sz="900" b="0" kern="1200">
                <a:solidFill>
                  <a:srgbClr val="24303A"/>
                </a:solidFill>
                <a:latin typeface="Courier New" pitchFamily="34" charset="0"/>
                <a:ea typeface="Yu Gothic" pitchFamily="34" charset="-128"/>
                <a:cs typeface="Courier New" pitchFamily="34" charset="0"/>
              </a:defRPr>
            </a:lvl3pPr>
          </a:lstStyle>
          <a:p>
            <a:pPr lvl="0"/>
            <a:r>
              <a:rPr lang="en-US"/>
              <a:t>Click to enter your answer</a:t>
            </a:r>
          </a:p>
        </p:txBody>
      </p:sp>
      <p:sp>
        <p:nvSpPr>
          <p:cNvPr id="105" name="Instructor Comment Field"/>
          <p:cNvSpPr>
            <a:spLocks noGrp="1"/>
          </p:cNvSpPr>
          <p:nvPr>
            <p:ph type="body" idx="15"/>
          </p:nvPr>
        </p:nvSpPr>
        <p:spPr>
          <a:xfrm>
            <a:off x="4197096" y="5440680"/>
            <a:ext cx="7223760" cy="777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950" b="0" kern="1200">
                <a:solidFill>
                  <a:srgbClr val="4A5A66"/>
                </a:solidFill>
                <a:latin typeface="Calibri" pitchFamily="34" charset="0"/>
                <a:ea typeface="Yu Gothic" pitchFamily="34" charset="-128"/>
                <a:cs typeface="Calibri" pitchFamily="34" charset="0"/>
              </a:defRPr>
            </a:lvl1pPr>
            <a:lvl2pPr marL="228600" indent="0" algn="l">
              <a:lnSpc>
                <a:spcPct val="120000"/>
              </a:lnSpc>
              <a:spcBef>
                <a:spcPts val="0"/>
              </a:spcBef>
              <a:buNone/>
              <a:defRPr sz="950" b="0" kern="1200">
                <a:solidFill>
                  <a:srgbClr val="4A5A66"/>
                </a:solidFill>
                <a:latin typeface="Calibri" pitchFamily="34" charset="0"/>
                <a:ea typeface="Yu Gothic" pitchFamily="34" charset="-128"/>
                <a:cs typeface="Calibri" pitchFamily="34" charset="0"/>
              </a:defRPr>
            </a:lvl2pPr>
            <a:lvl3pPr marL="457200" indent="0" algn="l">
              <a:lnSpc>
                <a:spcPct val="120000"/>
              </a:lnSpc>
              <a:spcBef>
                <a:spcPts val="0"/>
              </a:spcBef>
              <a:buNone/>
              <a:defRPr sz="950" b="0" kern="1200">
                <a:solidFill>
                  <a:srgbClr val="4A5A66"/>
                </a:solidFill>
                <a:latin typeface="Calibri" pitchFamily="34" charset="0"/>
                <a:ea typeface="Yu Gothic" pitchFamily="34" charset="-128"/>
                <a:cs typeface="Calibri" pitchFamily="34" charset="0"/>
              </a:defRPr>
            </a:lvl3pPr>
          </a:lstStyle>
          <a:p>
            <a:pPr lvl="0"/>
            <a:r>
              <a:rPr lang="en-US"/>
              <a:t>Click to enter your answer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960120" cy="365760"/>
          </a:xfrm>
          <a:prstGeom prst="roundRect">
            <a:avLst>
              <a:gd name="adj" fmla="val 17500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1600200" y="365760"/>
            <a:ext cx="1051560" cy="365760"/>
          </a:xfrm>
          <a:prstGeom prst="roundRect">
            <a:avLst>
              <a:gd name="adj" fmla="val 17500"/>
            </a:avLst>
          </a:prstGeom>
          <a:solidFill>
            <a:srgbClr val="E07A3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600200" y="3657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①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5971032" y="365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Overall Architecture and Project Structure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Exercise: Draw a Service Architecture Diagram (50 min)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A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e-MOI Pre-Training Week 2 — Exercise Answer Sheet  |  3</a:t>
            </a:r>
            <a:endParaRPr lang="en-US" sz="80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11091672" cy="475488"/>
          </a:xfrm>
          <a:prstGeom prst="roundRect">
            <a:avLst>
              <a:gd name="adj" fmla="val 9615"/>
            </a:avLst>
          </a:prstGeom>
          <a:solidFill>
            <a:srgbClr val="F1F4F6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49808" y="1371600"/>
            <a:ext cx="1068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 `docker/docker-compose.yaml` and draw a service architecture diagram by hand or with a tool.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397764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749808" y="2121408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to include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768096" y="2487168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1005840" y="2404872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(as boxes)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768096" y="2916936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1005840" y="2834640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between services (depends_on arrows)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768096" y="3346704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1005840" y="3264408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each service belongs to (default / ssrf_proxy_network)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768096" y="3776472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1005840" y="3694176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external requests take through the services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768096" y="4206240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1005840" y="4123944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data is persisted (volume mounts)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4800600" y="2011680"/>
            <a:ext cx="6839712" cy="2788920"/>
          </a:xfrm>
          <a:prstGeom prst="roundRect">
            <a:avLst>
              <a:gd name="adj" fmla="val 1967"/>
            </a:avLst>
          </a:prstGeom>
          <a:solidFill>
            <a:srgbClr val="FAFCFD"/>
          </a:solidFill>
          <a:ln w="12700">
            <a:solidFill>
              <a:srgbClr val="6B7A86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5074920" y="2121408"/>
            <a:ext cx="6291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diagram image here, or type your diagram / notes in the field below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548640" y="4983480"/>
            <a:ext cx="3200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749808" y="5074920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768096" y="542239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1024128" y="53675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/>
          </a:p>
        </p:txBody>
      </p:sp>
      <p:sp>
        <p:nvSpPr>
          <p:cNvPr id="29" name="Shape 27"/>
          <p:cNvSpPr/>
          <p:nvPr/>
        </p:nvSpPr>
        <p:spPr>
          <a:xfrm>
            <a:off x="768096" y="569671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1024128" y="56418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correct</a:t>
            </a:r>
            <a:endParaRPr lang="en-US" sz="1100"/>
          </a:p>
        </p:txBody>
      </p:sp>
      <p:sp>
        <p:nvSpPr>
          <p:cNvPr id="31" name="Shape 29"/>
          <p:cNvSpPr/>
          <p:nvPr/>
        </p:nvSpPr>
        <p:spPr>
          <a:xfrm>
            <a:off x="768096" y="597103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1024128" y="59161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1100"/>
          </a:p>
        </p:txBody>
      </p:sp>
      <p:sp>
        <p:nvSpPr>
          <p:cNvPr id="33" name="Shape 31"/>
          <p:cNvSpPr/>
          <p:nvPr/>
        </p:nvSpPr>
        <p:spPr>
          <a:xfrm>
            <a:off x="3977640" y="4983480"/>
            <a:ext cx="766267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4178808" y="5074920"/>
            <a:ext cx="7260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Comment</a:t>
            </a:r>
            <a:endParaRPr lang="en-US" sz="900"/>
          </a:p>
        </p:txBody>
      </p:sp>
      <p:sp>
        <p:nvSpPr>
          <p:cNvPr id="38" name="Diagram / Notes Field"/>
          <p:cNvSpPr>
            <a:spLocks noGrp="1"/>
          </p:cNvSpPr>
          <p:nvPr>
            <p:ph type="body" idx="14"/>
          </p:nvPr>
        </p:nvSpPr>
        <p:spPr>
          <a:xfrm>
            <a:off x="5029200" y="2505456"/>
            <a:ext cx="6382512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ja-JP" altLang="en-US" dirty="0">
                <a:latin typeface="Courier New"/>
                <a:ea typeface="Yu Gothic"/>
                <a:cs typeface="Courier New"/>
              </a:rPr>
              <a:t>File </a:t>
            </a:r>
            <a:r>
              <a:rPr lang="ja-JP" dirty="0">
                <a:latin typeface="Courier New"/>
                <a:ea typeface="Yu Gothic"/>
                <a:cs typeface="Courier New"/>
              </a:rPr>
              <a:t>day1-exercise1-architecture-quang</a:t>
            </a:r>
            <a:r>
              <a:rPr lang="en-US" altLang="ja-JP" dirty="0">
                <a:latin typeface="Courier New"/>
                <a:ea typeface="Yu Gothic"/>
                <a:cs typeface="Courier New"/>
              </a:rPr>
              <a:t>.</a:t>
            </a:r>
            <a:r>
              <a:rPr lang="en-US" altLang="ja-JP" dirty="0" err="1">
                <a:latin typeface="Courier New"/>
                <a:ea typeface="Yu Gothic"/>
                <a:cs typeface="Courier New"/>
              </a:rPr>
              <a:t>png</a:t>
            </a:r>
            <a:endParaRPr lang="ja-JP" altLang="en-US" dirty="0" err="1"/>
          </a:p>
        </p:txBody>
      </p:sp>
      <p:sp>
        <p:nvSpPr>
          <p:cNvPr id="39" name="Instructor Comment Field"/>
          <p:cNvSpPr>
            <a:spLocks noGrp="1"/>
          </p:cNvSpPr>
          <p:nvPr>
            <p:ph type="body" idx="15"/>
          </p:nvPr>
        </p:nvSpPr>
        <p:spPr>
          <a:xfrm>
            <a:off x="4197096" y="544068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960120" cy="365760"/>
          </a:xfrm>
          <a:prstGeom prst="roundRect">
            <a:avLst>
              <a:gd name="adj" fmla="val 17500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1600200" y="365760"/>
            <a:ext cx="777240" cy="365760"/>
          </a:xfrm>
          <a:prstGeom prst="roundRect">
            <a:avLst>
              <a:gd name="adj" fmla="val 17500"/>
            </a:avLst>
          </a:prstGeom>
          <a:solidFill>
            <a:srgbClr val="E07A3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600200" y="3657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5971032" y="365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Overall Architecture and Project Structure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Quiz — Startup Flow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A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e-MOI Pre-Training Week 2 — Exercise Answer Sheet  |  4</a:t>
            </a:r>
            <a:endParaRPr lang="en-US" sz="80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11091672" cy="868680"/>
          </a:xfrm>
          <a:prstGeom prst="roundRect">
            <a:avLst>
              <a:gd name="adj" fmla="val 5263"/>
            </a:avLst>
          </a:prstGeom>
          <a:solidFill>
            <a:srgbClr val="F1F4F6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77240" y="137160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file is loaded first when the Flask application starts? What condition does that file use to switch between normal startup and migration startup?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11091672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777240" y="25328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3200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749808" y="5074920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768096" y="542239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1024128" y="53675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768096" y="569671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1024128" y="56418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correct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768096" y="597103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1024128" y="59161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3977640" y="4983480"/>
            <a:ext cx="766267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4178808" y="5074920"/>
            <a:ext cx="7260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Comment</a:t>
            </a:r>
            <a:endParaRPr lang="en-US" sz="900"/>
          </a:p>
        </p:txBody>
      </p:sp>
      <p:sp>
        <p:nvSpPr>
          <p:cNvPr id="32" name="Answer Field"/>
          <p:cNvSpPr>
            <a:spLocks noGrp="1"/>
          </p:cNvSpPr>
          <p:nvPr>
            <p:ph type="body" idx="10"/>
          </p:nvPr>
        </p:nvSpPr>
        <p:spPr>
          <a:xfrm>
            <a:off x="804672" y="2880360"/>
            <a:ext cx="105796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ja-JP" altLang="en-US">
                <a:latin typeface="Calibri"/>
                <a:ea typeface="Yu Gothic"/>
                <a:cs typeface="Calibri"/>
              </a:rPr>
              <a:t>First file loaded in Flask application: </a:t>
            </a:r>
            <a:r>
              <a:rPr lang="ja-JP">
                <a:latin typeface="Calibri"/>
                <a:ea typeface="Yu Gothic"/>
                <a:cs typeface="Calibri"/>
              </a:rPr>
              <a:t>api/app.py</a:t>
            </a:r>
          </a:p>
          <a:p>
            <a:r>
              <a:rPr lang="en-US" altLang="ja-JP">
                <a:latin typeface="Calibri"/>
                <a:ea typeface="Yu Gothic"/>
                <a:cs typeface="Calibri"/>
              </a:rPr>
              <a:t>Condition:</a:t>
            </a:r>
            <a:r>
              <a:rPr lang="ja-JP" altLang="en-US">
                <a:latin typeface="Calibri"/>
                <a:ea typeface="Yu Gothic"/>
                <a:cs typeface="Calibri"/>
              </a:rPr>
              <a:t> functi</a:t>
            </a:r>
            <a:r>
              <a:rPr lang="en-US" altLang="ja-JP">
                <a:latin typeface="Calibri"/>
                <a:ea typeface="Yu Gothic"/>
                <a:cs typeface="Calibri"/>
              </a:rPr>
              <a:t>on</a:t>
            </a:r>
            <a:r>
              <a:rPr lang="ja-JP" altLang="en-US">
                <a:latin typeface="Calibri"/>
                <a:ea typeface="Yu Gothic"/>
                <a:cs typeface="Calibri"/>
              </a:rPr>
              <a:t> </a:t>
            </a:r>
            <a:r>
              <a:rPr lang="ja-JP">
                <a:latin typeface="Calibri"/>
                <a:ea typeface="Yu Gothic"/>
                <a:cs typeface="Calibri"/>
              </a:rPr>
              <a:t>is_db_command() </a:t>
            </a:r>
            <a:r>
              <a:rPr lang="en-US" altLang="ja-JP">
                <a:latin typeface="Calibri"/>
                <a:ea typeface="Yu Gothic"/>
                <a:cs typeface="Calibri"/>
              </a:rPr>
              <a:t>satisfied 2 conditions - </a:t>
            </a:r>
            <a:r>
              <a:rPr lang="ja-JP">
                <a:latin typeface="Calibri"/>
                <a:ea typeface="Yu Gothic"/>
                <a:cs typeface="Calibri"/>
              </a:rPr>
              <a:t>sys.argv[0]= </a:t>
            </a:r>
            <a:r>
              <a:rPr lang="en-US" altLang="ja-JP">
                <a:latin typeface="Calibri"/>
                <a:ea typeface="Yu Gothic"/>
                <a:cs typeface="Calibri"/>
              </a:rPr>
              <a:t>flask and </a:t>
            </a:r>
            <a:r>
              <a:rPr lang="en-US" err="1">
                <a:latin typeface="Calibri"/>
                <a:ea typeface="Calibri"/>
                <a:cs typeface="Calibri"/>
              </a:rPr>
              <a:t>sys.argv</a:t>
            </a:r>
            <a:r>
              <a:rPr lang="en-US">
                <a:latin typeface="Calibri"/>
                <a:ea typeface="Calibri"/>
                <a:cs typeface="Calibri"/>
              </a:rPr>
              <a:t>[1] = </a:t>
            </a:r>
            <a:r>
              <a:rPr lang="en-US" err="1">
                <a:latin typeface="Calibri"/>
                <a:ea typeface="Calibri"/>
                <a:cs typeface="Calibri"/>
              </a:rPr>
              <a:t>db</a:t>
            </a:r>
            <a:endParaRPr lang="en-US">
              <a:latin typeface="Calibri"/>
              <a:ea typeface="Calibri"/>
              <a:cs typeface="Calibri"/>
            </a:endParaRPr>
          </a:p>
          <a:p>
            <a:endParaRPr lang="en-US" altLang="ja-JP">
              <a:ea typeface="Calibri"/>
            </a:endParaRPr>
          </a:p>
        </p:txBody>
      </p:sp>
      <p:sp>
        <p:nvSpPr>
          <p:cNvPr id="33" name="Instructor Comment Field"/>
          <p:cNvSpPr>
            <a:spLocks noGrp="1"/>
          </p:cNvSpPr>
          <p:nvPr>
            <p:ph type="body" idx="15"/>
          </p:nvPr>
        </p:nvSpPr>
        <p:spPr>
          <a:xfrm>
            <a:off x="4197096" y="544068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960120" cy="365760"/>
          </a:xfrm>
          <a:prstGeom prst="roundRect">
            <a:avLst>
              <a:gd name="adj" fmla="val 17500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1600200" y="365760"/>
            <a:ext cx="777240" cy="365760"/>
          </a:xfrm>
          <a:prstGeom prst="roundRect">
            <a:avLst>
              <a:gd name="adj" fmla="val 17500"/>
            </a:avLst>
          </a:prstGeom>
          <a:solidFill>
            <a:srgbClr val="E07A3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600200" y="3657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5971032" y="365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Overall Architecture and Project Structure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Quiz — Blueprint Registration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A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e-MOI Pre-Training Week 2 — Exercise Answer Sheet  |  5</a:t>
            </a:r>
            <a:endParaRPr lang="en-US" sz="80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11091672" cy="868680"/>
          </a:xfrm>
          <a:prstGeom prst="roundRect">
            <a:avLst>
              <a:gd name="adj" fmla="val 5263"/>
            </a:avLst>
          </a:prstGeom>
          <a:solidFill>
            <a:srgbClr val="F1F4F6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77240" y="137160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file registers the 6 Blueprints? Which URL prefixes correspond to `console_app_bp` and `service_api_bp` respectively?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11091672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777240" y="25328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3200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749808" y="5074920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768096" y="542239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1024128" y="53675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768096" y="569671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1024128" y="56418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correct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768096" y="597103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1024128" y="59161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3977640" y="4983480"/>
            <a:ext cx="766267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4178808" y="5074920"/>
            <a:ext cx="7260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Comment</a:t>
            </a:r>
            <a:endParaRPr lang="en-US" sz="900"/>
          </a:p>
        </p:txBody>
      </p:sp>
      <p:sp>
        <p:nvSpPr>
          <p:cNvPr id="32" name="Answer Field"/>
          <p:cNvSpPr>
            <a:spLocks noGrp="1"/>
          </p:cNvSpPr>
          <p:nvPr>
            <p:ph type="body" idx="10"/>
          </p:nvPr>
        </p:nvSpPr>
        <p:spPr>
          <a:xfrm>
            <a:off x="804672" y="2880360"/>
            <a:ext cx="105796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altLang="ja-JP" sz="1300">
                <a:latin typeface="Calibri"/>
                <a:ea typeface="Calibri"/>
                <a:cs typeface="Calibri"/>
              </a:rPr>
              <a:t>file registers the 6 Blueprints: </a:t>
            </a:r>
            <a:r>
              <a:rPr lang="en-US" sz="1300">
                <a:latin typeface="Calibri"/>
                <a:ea typeface="Calibri"/>
                <a:cs typeface="Calibri"/>
              </a:rPr>
              <a:t>api\extensions\ext_blueprints.py</a:t>
            </a:r>
          </a:p>
          <a:p>
            <a:r>
              <a:rPr lang="en-US" sz="1300">
                <a:latin typeface="Calibri"/>
                <a:ea typeface="Calibri"/>
                <a:cs typeface="Calibri"/>
              </a:rPr>
              <a:t>URL prefix:</a:t>
            </a:r>
          </a:p>
          <a:p>
            <a:pPr marL="285750" indent="-285750">
              <a:buFont typeface="Calibri" pitchFamily="34" charset="0"/>
              <a:buChar char="-"/>
            </a:pPr>
            <a:r>
              <a:rPr lang="en-US" sz="1300" dirty="0" err="1">
                <a:latin typeface="Calibri"/>
                <a:ea typeface="Calibri"/>
                <a:cs typeface="Calibri"/>
              </a:rPr>
              <a:t>console_app_bp</a:t>
            </a:r>
            <a:r>
              <a:rPr lang="en-US" sz="1300" dirty="0">
                <a:latin typeface="Calibri"/>
                <a:ea typeface="Calibri"/>
                <a:cs typeface="Calibri"/>
              </a:rPr>
              <a:t>: /console/</a:t>
            </a:r>
            <a:r>
              <a:rPr lang="en-US" sz="1300" dirty="0" err="1">
                <a:latin typeface="Calibri"/>
                <a:ea typeface="Calibri"/>
                <a:cs typeface="Calibri"/>
              </a:rPr>
              <a:t>api</a:t>
            </a:r>
            <a:r>
              <a:rPr lang="en-US" sz="1300" dirty="0">
                <a:latin typeface="Calibri"/>
                <a:ea typeface="Calibri"/>
                <a:cs typeface="Calibri"/>
              </a:rPr>
              <a:t>/</a:t>
            </a:r>
          </a:p>
          <a:p>
            <a:pPr marL="285750" indent="-285750">
              <a:buFont typeface="Calibri" pitchFamily="34" charset="0"/>
              <a:buChar char="-"/>
            </a:pPr>
            <a:r>
              <a:rPr lang="en-US" sz="1300" dirty="0" err="1">
                <a:latin typeface="Calibri"/>
                <a:ea typeface="Calibri"/>
                <a:cs typeface="Calibri"/>
              </a:rPr>
              <a:t>service_api_bp</a:t>
            </a:r>
            <a:r>
              <a:rPr lang="en-US" sz="1300" dirty="0">
                <a:latin typeface="Calibri"/>
                <a:ea typeface="Calibri"/>
                <a:cs typeface="Calibri"/>
              </a:rPr>
              <a:t>: /v1/</a:t>
            </a:r>
            <a:endParaRPr lang="en-US" sz="1300" dirty="0">
              <a:ea typeface="Calibri"/>
            </a:endParaRPr>
          </a:p>
        </p:txBody>
      </p:sp>
      <p:sp>
        <p:nvSpPr>
          <p:cNvPr id="33" name="Instructor Comment Field"/>
          <p:cNvSpPr>
            <a:spLocks noGrp="1"/>
          </p:cNvSpPr>
          <p:nvPr>
            <p:ph type="body" idx="15"/>
          </p:nvPr>
        </p:nvSpPr>
        <p:spPr>
          <a:xfrm>
            <a:off x="4197096" y="544068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960120" cy="365760"/>
          </a:xfrm>
          <a:prstGeom prst="roundRect">
            <a:avLst>
              <a:gd name="adj" fmla="val 17500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1600200" y="365760"/>
            <a:ext cx="777240" cy="365760"/>
          </a:xfrm>
          <a:prstGeom prst="roundRect">
            <a:avLst>
              <a:gd name="adj" fmla="val 17500"/>
            </a:avLst>
          </a:prstGeom>
          <a:solidFill>
            <a:srgbClr val="E07A3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600200" y="3657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5971032" y="365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Overall Architecture and Project Structure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Quiz — Celery Entry Point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A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e-MOI Pre-Training Week 2 — Exercise Answer Sheet  |  6</a:t>
            </a:r>
            <a:endParaRPr lang="en-US" sz="80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11091672" cy="868680"/>
          </a:xfrm>
          <a:prstGeom prst="roundRect">
            <a:avLst>
              <a:gd name="adj" fmla="val 5263"/>
            </a:avLst>
          </a:prstGeom>
          <a:solidFill>
            <a:srgbClr val="F1F4F6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77240" y="137160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file is the Celery worker entry point? What is the first processing performed in that file, before Flask/Django initialization?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11091672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777240" y="25328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3200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749808" y="5074920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768096" y="542239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1024128" y="53675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768096" y="569671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1024128" y="56418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correct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768096" y="597103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1024128" y="59161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3977640" y="4983480"/>
            <a:ext cx="766267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4178808" y="5074920"/>
            <a:ext cx="7260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Comment</a:t>
            </a:r>
            <a:endParaRPr lang="en-US" sz="900"/>
          </a:p>
        </p:txBody>
      </p:sp>
      <p:sp>
        <p:nvSpPr>
          <p:cNvPr id="32" name="Answer Field"/>
          <p:cNvSpPr>
            <a:spLocks noGrp="1"/>
          </p:cNvSpPr>
          <p:nvPr>
            <p:ph type="body" idx="10"/>
          </p:nvPr>
        </p:nvSpPr>
        <p:spPr>
          <a:xfrm>
            <a:off x="804672" y="2880360"/>
            <a:ext cx="105796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ja-JP" altLang="en-US">
                <a:latin typeface="Calibri"/>
                <a:ea typeface="Yu Gothic"/>
                <a:cs typeface="Calibri"/>
              </a:rPr>
              <a:t>File api/</a:t>
            </a:r>
            <a:r>
              <a:rPr lang="ja-JP">
                <a:latin typeface="Calibri"/>
                <a:ea typeface="Yu Gothic"/>
                <a:cs typeface="Calibri"/>
              </a:rPr>
              <a:t>celery_entrypoint.py</a:t>
            </a:r>
          </a:p>
          <a:p>
            <a:r>
              <a:rPr lang="ja-JP" altLang="en-US">
                <a:latin typeface="Calibri"/>
                <a:ea typeface="Yu Gothic"/>
                <a:cs typeface="Calibri"/>
              </a:rPr>
              <a:t>First processing performed: patch gRPC client and postgre driver </a:t>
            </a:r>
            <a:endParaRPr lang="ja-JP" altLang="en-US" dirty="0"/>
          </a:p>
        </p:txBody>
      </p:sp>
      <p:sp>
        <p:nvSpPr>
          <p:cNvPr id="33" name="Instructor Comment Field"/>
          <p:cNvSpPr>
            <a:spLocks noGrp="1"/>
          </p:cNvSpPr>
          <p:nvPr>
            <p:ph type="body" idx="15"/>
          </p:nvPr>
        </p:nvSpPr>
        <p:spPr>
          <a:xfrm>
            <a:off x="4197096" y="544068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960120" cy="365760"/>
          </a:xfrm>
          <a:prstGeom prst="roundRect">
            <a:avLst>
              <a:gd name="adj" fmla="val 17500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1600200" y="365760"/>
            <a:ext cx="777240" cy="365760"/>
          </a:xfrm>
          <a:prstGeom prst="roundRect">
            <a:avLst>
              <a:gd name="adj" fmla="val 17500"/>
            </a:avLst>
          </a:prstGeom>
          <a:solidFill>
            <a:srgbClr val="E07A3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600200" y="3657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5971032" y="365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Overall Architecture and Project Structure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Quiz (Advanced) — Initialization Order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A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e-MOI Pre-Training Week 2 — Exercise Answer Sheet  |  7</a:t>
            </a:r>
            <a:endParaRPr lang="en-US" sz="80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11091672" cy="868680"/>
          </a:xfrm>
          <a:prstGeom prst="roundRect">
            <a:avLst>
              <a:gd name="adj" fmla="val 5263"/>
            </a:avLst>
          </a:prstGeom>
          <a:solidFill>
            <a:srgbClr val="F1F4F6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77240" y="137160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position does `ext_blueprints` occupy in `initialize_extensions()` of `api/app_factory.py`? Why is it registered after `ext_database` and `ext_celery`? Give your reasoning.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11091672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777240" y="25328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3200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749808" y="5074920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768096" y="542239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1024128" y="53675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768096" y="569671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1024128" y="56418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correct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768096" y="597103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1024128" y="59161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3977640" y="4983480"/>
            <a:ext cx="766267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4178808" y="5074920"/>
            <a:ext cx="7260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Comment</a:t>
            </a:r>
            <a:endParaRPr lang="en-US" sz="900"/>
          </a:p>
        </p:txBody>
      </p:sp>
      <p:sp>
        <p:nvSpPr>
          <p:cNvPr id="32" name="Answer Field"/>
          <p:cNvSpPr>
            <a:spLocks noGrp="1"/>
          </p:cNvSpPr>
          <p:nvPr>
            <p:ph type="body" idx="10"/>
          </p:nvPr>
        </p:nvSpPr>
        <p:spPr>
          <a:xfrm>
            <a:off x="804672" y="2880360"/>
            <a:ext cx="105796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altLang="ja-JP" sz="1300" dirty="0" err="1">
                <a:latin typeface="Calibri"/>
                <a:ea typeface="Calibri"/>
                <a:cs typeface="Calibri"/>
              </a:rPr>
              <a:t>ext_blueprints</a:t>
            </a:r>
            <a:r>
              <a:rPr lang="en-US" altLang="ja-JP" sz="1300" dirty="0">
                <a:latin typeface="Calibri"/>
                <a:ea typeface="Calibri"/>
                <a:cs typeface="Calibri"/>
              </a:rPr>
              <a:t> occupies in 20th position</a:t>
            </a:r>
          </a:p>
          <a:p>
            <a:r>
              <a:rPr lang="en-US" altLang="ja-JP" sz="1300" dirty="0">
                <a:latin typeface="Calibri"/>
                <a:ea typeface="Calibri"/>
                <a:cs typeface="Calibri"/>
              </a:rPr>
              <a:t>It is registered after because if dependencies (database, celery,...) doesn't start and healthy, serving interface (blueprints) is </a:t>
            </a:r>
            <a:r>
              <a:rPr lang="en-US" sz="1300" dirty="0">
                <a:latin typeface="Calibri"/>
                <a:ea typeface="Calibri"/>
                <a:cs typeface="Calibri"/>
              </a:rPr>
              <a:t>nonsense</a:t>
            </a:r>
            <a:endParaRPr lang="en-US" altLang="ja-JP" sz="1300" dirty="0">
              <a:ea typeface="Calibri"/>
            </a:endParaRPr>
          </a:p>
        </p:txBody>
      </p:sp>
      <p:sp>
        <p:nvSpPr>
          <p:cNvPr id="33" name="Instructor Comment Field"/>
          <p:cNvSpPr>
            <a:spLocks noGrp="1"/>
          </p:cNvSpPr>
          <p:nvPr>
            <p:ph type="body" idx="15"/>
          </p:nvPr>
        </p:nvSpPr>
        <p:spPr>
          <a:xfrm>
            <a:off x="4197096" y="544068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960120" cy="365760"/>
          </a:xfrm>
          <a:prstGeom prst="roundRect">
            <a:avLst>
              <a:gd name="adj" fmla="val 17500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1600200" y="365760"/>
            <a:ext cx="1051560" cy="365760"/>
          </a:xfrm>
          <a:prstGeom prst="roundRect">
            <a:avLst>
              <a:gd name="adj" fmla="val 17500"/>
            </a:avLst>
          </a:prstGeom>
          <a:solidFill>
            <a:srgbClr val="E07A3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600200" y="3657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①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5971032" y="365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Layer and Data Models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Exercise: Draw the API Request Processing Flow (50 min)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A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e-MOI Pre-Training Week 2 — Exercise Answer Sheet  |  8</a:t>
            </a:r>
            <a:endParaRPr lang="en-US" sz="80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11091672" cy="475488"/>
          </a:xfrm>
          <a:prstGeom prst="roundRect">
            <a:avLst>
              <a:gd name="adj" fmla="val 9615"/>
            </a:avLst>
          </a:prstGeom>
          <a:solidFill>
            <a:srgbClr val="F1F4F6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49808" y="1371600"/>
            <a:ext cx="1068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`POST /v1/chat-messages` (Service API chat message send)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397764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749808" y="2121408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to include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768096" y="2487168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1005840" y="2404872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request sender through nginx to the api service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768096" y="2916936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1005840" y="2834640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inside `validate_app_token` (DB verification via `UPDATE ... RETURNING`)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768096" y="3346704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1005840" y="3264408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chain controller → service → model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768096" y="3776472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1005840" y="3694176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flow when `response_mode` is `streaming`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768096" y="4206240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1005840" y="4123944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timing of the final write to the DB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4800600" y="2011680"/>
            <a:ext cx="6839712" cy="2788920"/>
          </a:xfrm>
          <a:prstGeom prst="roundRect">
            <a:avLst>
              <a:gd name="adj" fmla="val 1967"/>
            </a:avLst>
          </a:prstGeom>
          <a:solidFill>
            <a:srgbClr val="FAFCFD"/>
          </a:solidFill>
          <a:ln w="12700">
            <a:solidFill>
              <a:srgbClr val="6B7A86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5074920" y="2121408"/>
            <a:ext cx="6291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diagram image here, or type your diagram / notes in the field below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548640" y="4983480"/>
            <a:ext cx="3200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749808" y="5074920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768096" y="542239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1024128" y="53675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/>
          </a:p>
        </p:txBody>
      </p:sp>
      <p:sp>
        <p:nvSpPr>
          <p:cNvPr id="29" name="Shape 27"/>
          <p:cNvSpPr/>
          <p:nvPr/>
        </p:nvSpPr>
        <p:spPr>
          <a:xfrm>
            <a:off x="768096" y="569671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1024128" y="56418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correct</a:t>
            </a:r>
            <a:endParaRPr lang="en-US" sz="1100"/>
          </a:p>
        </p:txBody>
      </p:sp>
      <p:sp>
        <p:nvSpPr>
          <p:cNvPr id="31" name="Shape 29"/>
          <p:cNvSpPr/>
          <p:nvPr/>
        </p:nvSpPr>
        <p:spPr>
          <a:xfrm>
            <a:off x="768096" y="597103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1024128" y="59161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1100"/>
          </a:p>
        </p:txBody>
      </p:sp>
      <p:sp>
        <p:nvSpPr>
          <p:cNvPr id="33" name="Shape 31"/>
          <p:cNvSpPr/>
          <p:nvPr/>
        </p:nvSpPr>
        <p:spPr>
          <a:xfrm>
            <a:off x="3977640" y="4983480"/>
            <a:ext cx="766267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4178808" y="5074920"/>
            <a:ext cx="7260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Comment</a:t>
            </a:r>
            <a:endParaRPr lang="en-US" sz="900"/>
          </a:p>
        </p:txBody>
      </p:sp>
      <p:sp>
        <p:nvSpPr>
          <p:cNvPr id="38" name="Diagram / Notes Field"/>
          <p:cNvSpPr>
            <a:spLocks noGrp="1"/>
          </p:cNvSpPr>
          <p:nvPr>
            <p:ph type="body" idx="14"/>
          </p:nvPr>
        </p:nvSpPr>
        <p:spPr>
          <a:xfrm>
            <a:off x="5029200" y="2505456"/>
            <a:ext cx="6382512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  <p:sp>
        <p:nvSpPr>
          <p:cNvPr id="39" name="Instructor Comment Field"/>
          <p:cNvSpPr>
            <a:spLocks noGrp="1"/>
          </p:cNvSpPr>
          <p:nvPr>
            <p:ph type="body" idx="15"/>
          </p:nvPr>
        </p:nvSpPr>
        <p:spPr>
          <a:xfrm>
            <a:off x="4197096" y="544068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960120" cy="365760"/>
          </a:xfrm>
          <a:prstGeom prst="roundRect">
            <a:avLst>
              <a:gd name="adj" fmla="val 17500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1600200" y="365760"/>
            <a:ext cx="777240" cy="365760"/>
          </a:xfrm>
          <a:prstGeom prst="roundRect">
            <a:avLst>
              <a:gd name="adj" fmla="val 17500"/>
            </a:avLst>
          </a:prstGeom>
          <a:solidFill>
            <a:srgbClr val="E07A3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600200" y="3657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5971032" y="365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Layer and Data Models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Quiz — Service API Authentication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A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e-MOI Pre-Training Week 2 — Exercise Answer Sheet  |  9</a:t>
            </a:r>
            <a:endParaRPr lang="en-US" sz="80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11091672" cy="868680"/>
          </a:xfrm>
          <a:prstGeom prst="roundRect">
            <a:avLst>
              <a:gd name="adj" fmla="val 5263"/>
            </a:avLst>
          </a:prstGeom>
          <a:solidFill>
            <a:srgbClr val="F1F4F6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77240" y="137160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file and which function handles authentication for Service API endpoints? What form does the SQL statement issued to the DB for API key verification take (`SELECT` / `UPDATE` / `UPDATE ... RETURNING`), and why does it take that form?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11091672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777240" y="25328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3200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749808" y="5074920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768096" y="542239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1024128" y="53675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768096" y="569671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1024128" y="56418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correct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768096" y="597103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1024128" y="59161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3977640" y="4983480"/>
            <a:ext cx="766267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4178808" y="5074920"/>
            <a:ext cx="7260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Comment</a:t>
            </a:r>
            <a:endParaRPr lang="en-US" sz="900"/>
          </a:p>
        </p:txBody>
      </p:sp>
      <p:sp>
        <p:nvSpPr>
          <p:cNvPr id="32" name="Answer Field"/>
          <p:cNvSpPr>
            <a:spLocks noGrp="1"/>
          </p:cNvSpPr>
          <p:nvPr>
            <p:ph type="body" idx="10"/>
          </p:nvPr>
        </p:nvSpPr>
        <p:spPr>
          <a:xfrm>
            <a:off x="804672" y="2880360"/>
            <a:ext cx="105796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  <p:sp>
        <p:nvSpPr>
          <p:cNvPr id="33" name="Instructor Comment Field"/>
          <p:cNvSpPr>
            <a:spLocks noGrp="1"/>
          </p:cNvSpPr>
          <p:nvPr>
            <p:ph type="body" idx="15"/>
          </p:nvPr>
        </p:nvSpPr>
        <p:spPr>
          <a:xfrm>
            <a:off x="4197096" y="544068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960120" cy="365760"/>
          </a:xfrm>
          <a:prstGeom prst="roundRect">
            <a:avLst>
              <a:gd name="adj" fmla="val 17500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1600200" y="365760"/>
            <a:ext cx="777240" cy="365760"/>
          </a:xfrm>
          <a:prstGeom prst="roundRect">
            <a:avLst>
              <a:gd name="adj" fmla="val 17500"/>
            </a:avLst>
          </a:prstGeom>
          <a:solidFill>
            <a:srgbClr val="E07A3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600200" y="3657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5971032" y="365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Layer and Data Models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Quiz — Comparing Authentication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A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e-MOI Pre-Training Week 2 — Exercise Answer Sheet  |  10</a:t>
            </a:r>
            <a:endParaRPr lang="en-US" sz="80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11091672" cy="868680"/>
          </a:xfrm>
          <a:prstGeom prst="roundRect">
            <a:avLst>
              <a:gd name="adj" fmla="val 5263"/>
            </a:avLst>
          </a:prstGeom>
          <a:solidFill>
            <a:srgbClr val="F1F4F6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77240" y="137160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authentication methods differ between the Console API and the Service API? Find evidence in the code for two points: who is authenticated, and where the credentials are stored.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11091672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777240" y="25328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3200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749808" y="5074920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768096" y="542239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1024128" y="53675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768096" y="569671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1024128" y="56418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correct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768096" y="597103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1024128" y="59161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3977640" y="4983480"/>
            <a:ext cx="766267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4178808" y="5074920"/>
            <a:ext cx="7260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Comment</a:t>
            </a:r>
            <a:endParaRPr lang="en-US" sz="900"/>
          </a:p>
        </p:txBody>
      </p:sp>
      <p:sp>
        <p:nvSpPr>
          <p:cNvPr id="32" name="Answer Field"/>
          <p:cNvSpPr>
            <a:spLocks noGrp="1"/>
          </p:cNvSpPr>
          <p:nvPr>
            <p:ph type="body" idx="10"/>
          </p:nvPr>
        </p:nvSpPr>
        <p:spPr>
          <a:xfrm>
            <a:off x="804672" y="2880360"/>
            <a:ext cx="105796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  <p:sp>
        <p:nvSpPr>
          <p:cNvPr id="33" name="Instructor Comment Field"/>
          <p:cNvSpPr>
            <a:spLocks noGrp="1"/>
          </p:cNvSpPr>
          <p:nvPr>
            <p:ph type="body" idx="15"/>
          </p:nvPr>
        </p:nvSpPr>
        <p:spPr>
          <a:xfrm>
            <a:off x="4197096" y="544068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960120" cy="365760"/>
          </a:xfrm>
          <a:prstGeom prst="roundRect">
            <a:avLst>
              <a:gd name="adj" fmla="val 17500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1600200" y="365760"/>
            <a:ext cx="777240" cy="365760"/>
          </a:xfrm>
          <a:prstGeom prst="roundRect">
            <a:avLst>
              <a:gd name="adj" fmla="val 17500"/>
            </a:avLst>
          </a:prstGeom>
          <a:solidFill>
            <a:srgbClr val="E07A3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600200" y="3657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5971032" y="365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Layer and Data Models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Quiz — Model Relationships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A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e-MOI Pre-Training Week 2 — Exercise Answer Sheet  |  11</a:t>
            </a:r>
            <a:endParaRPr lang="en-US" sz="80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11091672" cy="868680"/>
          </a:xfrm>
          <a:prstGeom prst="roundRect">
            <a:avLst>
              <a:gd name="adj" fmla="val 5263"/>
            </a:avLst>
          </a:prstGeom>
          <a:solidFill>
            <a:srgbClr val="F1F4F6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77240" y="137160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relationship do the `App` and `Conversation` models have? Show in code that multiple Conversations link to one App. Which column distinguishes conversations from the Service API versus the Console?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11091672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777240" y="25328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3200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749808" y="5074920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768096" y="542239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1024128" y="53675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768096" y="569671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1024128" y="56418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correct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768096" y="597103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1024128" y="59161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3977640" y="4983480"/>
            <a:ext cx="766267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4178808" y="5074920"/>
            <a:ext cx="7260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Comment</a:t>
            </a:r>
            <a:endParaRPr lang="en-US" sz="900"/>
          </a:p>
        </p:txBody>
      </p:sp>
      <p:sp>
        <p:nvSpPr>
          <p:cNvPr id="32" name="Answer Field"/>
          <p:cNvSpPr>
            <a:spLocks noGrp="1"/>
          </p:cNvSpPr>
          <p:nvPr>
            <p:ph type="body" idx="10"/>
          </p:nvPr>
        </p:nvSpPr>
        <p:spPr>
          <a:xfrm>
            <a:off x="804672" y="2880360"/>
            <a:ext cx="105796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  <p:sp>
        <p:nvSpPr>
          <p:cNvPr id="33" name="Instructor Comment Field"/>
          <p:cNvSpPr>
            <a:spLocks noGrp="1"/>
          </p:cNvSpPr>
          <p:nvPr>
            <p:ph type="body" idx="15"/>
          </p:nvPr>
        </p:nvSpPr>
        <p:spPr>
          <a:xfrm>
            <a:off x="4197096" y="544068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960120" cy="365760"/>
          </a:xfrm>
          <a:prstGeom prst="roundRect">
            <a:avLst>
              <a:gd name="adj" fmla="val 17500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1600200" y="365760"/>
            <a:ext cx="777240" cy="365760"/>
          </a:xfrm>
          <a:prstGeom prst="roundRect">
            <a:avLst>
              <a:gd name="adj" fmla="val 17500"/>
            </a:avLst>
          </a:prstGeom>
          <a:solidFill>
            <a:srgbClr val="E07A3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600200" y="3657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5971032" y="365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Layer and Data Models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Quiz (Advanced) — Tracing the Call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A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e-MOI Pre-Training Week 2 — Exercise Answer Sheet  |  12</a:t>
            </a:r>
            <a:endParaRPr lang="en-US" sz="80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11091672" cy="868680"/>
          </a:xfrm>
          <a:prstGeom prst="roundRect">
            <a:avLst>
              <a:gd name="adj" fmla="val 5263"/>
            </a:avLst>
          </a:prstGeom>
          <a:solidFill>
            <a:srgbClr val="F1F4F6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77240" y="137160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controller class that receives `POST /v1/chat-messages`? Trace the service class and method name its handler ultimately calls.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11091672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777240" y="25328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3200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749808" y="5074920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768096" y="542239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1024128" y="53675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768096" y="569671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1024128" y="56418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correct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768096" y="597103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1024128" y="59161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3977640" y="4983480"/>
            <a:ext cx="766267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4178808" y="5074920"/>
            <a:ext cx="7260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Comment</a:t>
            </a:r>
            <a:endParaRPr lang="en-US" sz="900"/>
          </a:p>
        </p:txBody>
      </p:sp>
      <p:sp>
        <p:nvSpPr>
          <p:cNvPr id="32" name="Answer Field"/>
          <p:cNvSpPr>
            <a:spLocks noGrp="1"/>
          </p:cNvSpPr>
          <p:nvPr>
            <p:ph type="body" idx="10"/>
          </p:nvPr>
        </p:nvSpPr>
        <p:spPr>
          <a:xfrm>
            <a:off x="804672" y="2880360"/>
            <a:ext cx="105796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  <p:sp>
        <p:nvSpPr>
          <p:cNvPr id="33" name="Instructor Comment Field"/>
          <p:cNvSpPr>
            <a:spLocks noGrp="1"/>
          </p:cNvSpPr>
          <p:nvPr>
            <p:ph type="body" idx="15"/>
          </p:nvPr>
        </p:nvSpPr>
        <p:spPr>
          <a:xfrm>
            <a:off x="4197096" y="544068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960120" cy="365760"/>
          </a:xfrm>
          <a:prstGeom prst="roundRect">
            <a:avLst>
              <a:gd name="adj" fmla="val 17500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1600200" y="365760"/>
            <a:ext cx="1051560" cy="365760"/>
          </a:xfrm>
          <a:prstGeom prst="roundRect">
            <a:avLst>
              <a:gd name="adj" fmla="val 17500"/>
            </a:avLst>
          </a:prstGeom>
          <a:solidFill>
            <a:srgbClr val="E07A3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600200" y="3657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①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5971032" y="365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and LLM Provider Integration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Exercise: Draw the RAG Index Pipeline (50 min)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A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e-MOI Pre-Training Week 2 — Exercise Answer Sheet  |  13</a:t>
            </a:r>
            <a:endParaRPr lang="en-US" sz="80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11091672" cy="475488"/>
          </a:xfrm>
          <a:prstGeom prst="roundRect">
            <a:avLst>
              <a:gd name="adj" fmla="val 9615"/>
            </a:avLst>
          </a:prstGeom>
          <a:solidFill>
            <a:srgbClr val="F1F4F6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49808" y="1371600"/>
            <a:ext cx="1068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to read: `document_indexing_task.py` / `indexing_runner.py` / `extract_processor.py` / `text_splitter.py` / `cached_embedding.py` / `vector_base.py` / `vector_factory.py`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397764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749808" y="2121408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to include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768096" y="2487168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1005840" y="2404872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 from the Celery task calling `IndexingRunner`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768096" y="2916936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1005840" y="2834640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phases inside `IndexingRunner`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768096" y="3346704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1005840" y="3264408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names used in each phase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768096" y="3776472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1005840" y="3694176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cache is utilized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768096" y="4206240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1005840" y="4123944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vector DB implementation class is selected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4800600" y="2011680"/>
            <a:ext cx="6839712" cy="2788920"/>
          </a:xfrm>
          <a:prstGeom prst="roundRect">
            <a:avLst>
              <a:gd name="adj" fmla="val 1967"/>
            </a:avLst>
          </a:prstGeom>
          <a:solidFill>
            <a:srgbClr val="FAFCFD"/>
          </a:solidFill>
          <a:ln w="12700">
            <a:solidFill>
              <a:srgbClr val="6B7A86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5074920" y="2121408"/>
            <a:ext cx="6291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diagram image here, or type your diagram / notes in the field below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548640" y="4983480"/>
            <a:ext cx="3200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749808" y="5074920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768096" y="542239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1024128" y="53675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/>
          </a:p>
        </p:txBody>
      </p:sp>
      <p:sp>
        <p:nvSpPr>
          <p:cNvPr id="29" name="Shape 27"/>
          <p:cNvSpPr/>
          <p:nvPr/>
        </p:nvSpPr>
        <p:spPr>
          <a:xfrm>
            <a:off x="768096" y="569671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1024128" y="56418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correct</a:t>
            </a:r>
            <a:endParaRPr lang="en-US" sz="1100"/>
          </a:p>
        </p:txBody>
      </p:sp>
      <p:sp>
        <p:nvSpPr>
          <p:cNvPr id="31" name="Shape 29"/>
          <p:cNvSpPr/>
          <p:nvPr/>
        </p:nvSpPr>
        <p:spPr>
          <a:xfrm>
            <a:off x="768096" y="597103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1024128" y="59161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1100"/>
          </a:p>
        </p:txBody>
      </p:sp>
      <p:sp>
        <p:nvSpPr>
          <p:cNvPr id="33" name="Shape 31"/>
          <p:cNvSpPr/>
          <p:nvPr/>
        </p:nvSpPr>
        <p:spPr>
          <a:xfrm>
            <a:off x="3977640" y="4983480"/>
            <a:ext cx="766267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4178808" y="5074920"/>
            <a:ext cx="7260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Comment</a:t>
            </a:r>
            <a:endParaRPr lang="en-US" sz="900"/>
          </a:p>
        </p:txBody>
      </p:sp>
      <p:sp>
        <p:nvSpPr>
          <p:cNvPr id="38" name="Diagram / Notes Field"/>
          <p:cNvSpPr>
            <a:spLocks noGrp="1"/>
          </p:cNvSpPr>
          <p:nvPr>
            <p:ph type="body" idx="14"/>
          </p:nvPr>
        </p:nvSpPr>
        <p:spPr>
          <a:xfrm>
            <a:off x="5029200" y="2505456"/>
            <a:ext cx="6382512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  <p:sp>
        <p:nvSpPr>
          <p:cNvPr id="39" name="Instructor Comment Field"/>
          <p:cNvSpPr>
            <a:spLocks noGrp="1"/>
          </p:cNvSpPr>
          <p:nvPr>
            <p:ph type="body" idx="15"/>
          </p:nvPr>
        </p:nvSpPr>
        <p:spPr>
          <a:xfrm>
            <a:off x="4197096" y="544068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960120" cy="365760"/>
          </a:xfrm>
          <a:prstGeom prst="roundRect">
            <a:avLst>
              <a:gd name="adj" fmla="val 17500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1600200" y="365760"/>
            <a:ext cx="777240" cy="365760"/>
          </a:xfrm>
          <a:prstGeom prst="roundRect">
            <a:avLst>
              <a:gd name="adj" fmla="val 17500"/>
            </a:avLst>
          </a:prstGeom>
          <a:solidFill>
            <a:srgbClr val="E07A3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600200" y="3657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5971032" y="365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and LLM Provider Integration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Quiz — Adding a New Vector DB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A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e-MOI Pre-Training Week 2 — Exercise Answer Sheet  |  14</a:t>
            </a:r>
            <a:endParaRPr lang="en-US" sz="800"/>
          </a:p>
        </p:txBody>
      </p:sp>
      <p:sp>
        <p:nvSpPr>
          <p:cNvPr id="9" name="Shape 7"/>
          <p:cNvSpPr/>
          <p:nvPr/>
        </p:nvSpPr>
        <p:spPr>
          <a:xfrm>
            <a:off x="548640" y="1188720"/>
            <a:ext cx="11091672" cy="475488"/>
          </a:xfrm>
          <a:prstGeom prst="roundRect">
            <a:avLst>
              <a:gd name="adj" fmla="val 9615"/>
            </a:avLst>
          </a:prstGeom>
          <a:solidFill>
            <a:srgbClr val="F1F4F6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49808" y="1188720"/>
            <a:ext cx="1068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you want to add a new vector DB (hypothetically "MyNewVectorDB").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548640" y="177393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48640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932688" y="1755648"/>
            <a:ext cx="10707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file and which class is the abstract base class to implement?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932688" y="2103120"/>
            <a:ext cx="1070762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548640" y="287121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48640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932688" y="2852928"/>
            <a:ext cx="10707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methods required with `@abstractmethod`.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932688" y="3200400"/>
            <a:ext cx="1070762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548640" y="396849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48640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932688" y="3950208"/>
            <a:ext cx="10707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processing in `vector_factory.py` should the factory registration be added to?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932688" y="4297680"/>
            <a:ext cx="1070762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548640" y="5029200"/>
            <a:ext cx="3200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749808" y="5120640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/>
          </a:p>
        </p:txBody>
      </p:sp>
      <p:sp>
        <p:nvSpPr>
          <p:cNvPr id="28" name="Shape 26"/>
          <p:cNvSpPr/>
          <p:nvPr/>
        </p:nvSpPr>
        <p:spPr>
          <a:xfrm>
            <a:off x="768096" y="546811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1024128" y="54132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768096" y="574243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1024128" y="56875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correct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768096" y="601675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1024128" y="59618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1100"/>
          </a:p>
        </p:txBody>
      </p:sp>
      <p:sp>
        <p:nvSpPr>
          <p:cNvPr id="34" name="Shape 32"/>
          <p:cNvSpPr/>
          <p:nvPr/>
        </p:nvSpPr>
        <p:spPr>
          <a:xfrm>
            <a:off x="3977640" y="5029200"/>
            <a:ext cx="766267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4178808" y="5120640"/>
            <a:ext cx="7260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Comment</a:t>
            </a:r>
            <a:endParaRPr lang="en-US" sz="900"/>
          </a:p>
        </p:txBody>
      </p:sp>
      <p:sp>
        <p:nvSpPr>
          <p:cNvPr id="39" name="Answer Field a"/>
          <p:cNvSpPr>
            <a:spLocks noGrp="1"/>
          </p:cNvSpPr>
          <p:nvPr>
            <p:ph type="body" idx="11"/>
          </p:nvPr>
        </p:nvSpPr>
        <p:spPr>
          <a:xfrm>
            <a:off x="1115568" y="2185416"/>
            <a:ext cx="1034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  <p:sp>
        <p:nvSpPr>
          <p:cNvPr id="40" name="Answer Field b"/>
          <p:cNvSpPr>
            <a:spLocks noGrp="1"/>
          </p:cNvSpPr>
          <p:nvPr>
            <p:ph type="body" idx="12"/>
          </p:nvPr>
        </p:nvSpPr>
        <p:spPr>
          <a:xfrm>
            <a:off x="1115568" y="3282696"/>
            <a:ext cx="1034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  <p:sp>
        <p:nvSpPr>
          <p:cNvPr id="41" name="Answer Field c"/>
          <p:cNvSpPr>
            <a:spLocks noGrp="1"/>
          </p:cNvSpPr>
          <p:nvPr>
            <p:ph type="body" idx="13"/>
          </p:nvPr>
        </p:nvSpPr>
        <p:spPr>
          <a:xfrm>
            <a:off x="1115568" y="4379976"/>
            <a:ext cx="1034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  <p:sp>
        <p:nvSpPr>
          <p:cNvPr id="42" name="Instructor Comment Field"/>
          <p:cNvSpPr>
            <a:spLocks noGrp="1"/>
          </p:cNvSpPr>
          <p:nvPr>
            <p:ph type="body" idx="15"/>
          </p:nvPr>
        </p:nvSpPr>
        <p:spPr>
          <a:xfrm>
            <a:off x="4197096" y="548640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960120" cy="365760"/>
          </a:xfrm>
          <a:prstGeom prst="roundRect">
            <a:avLst>
              <a:gd name="adj" fmla="val 17500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1600200" y="365760"/>
            <a:ext cx="777240" cy="365760"/>
          </a:xfrm>
          <a:prstGeom prst="roundRect">
            <a:avLst>
              <a:gd name="adj" fmla="val 17500"/>
            </a:avLst>
          </a:prstGeom>
          <a:solidFill>
            <a:srgbClr val="E07A3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600200" y="3657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5971032" y="365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and LLM Provider Integration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Quiz — The VECTOR_STORE Environment Variable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A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e-MOI Pre-Training Week 2 — Exercise Answer Sheet  |  15</a:t>
            </a:r>
            <a:endParaRPr lang="en-US" sz="800"/>
          </a:p>
        </p:txBody>
      </p:sp>
      <p:sp>
        <p:nvSpPr>
          <p:cNvPr id="9" name="Shape 7"/>
          <p:cNvSpPr/>
          <p:nvPr/>
        </p:nvSpPr>
        <p:spPr>
          <a:xfrm>
            <a:off x="548640" y="1188720"/>
            <a:ext cx="11091672" cy="475488"/>
          </a:xfrm>
          <a:prstGeom prst="roundRect">
            <a:avLst>
              <a:gd name="adj" fmla="val 9615"/>
            </a:avLst>
          </a:prstGeom>
          <a:solidFill>
            <a:srgbClr val="F1F4F6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49808" y="1188720"/>
            <a:ext cx="1068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Regarding the environment variable `VECTOR_STORE`.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548640" y="177393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48640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932688" y="1755648"/>
            <a:ext cx="10707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 the code is this variable read, and which class is it passed to?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932688" y="2103120"/>
            <a:ext cx="1070762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548640" y="287121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48640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932688" y="2852928"/>
            <a:ext cx="10707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lines of code must change to switch from Weaviate to pgvector?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932688" y="3200400"/>
            <a:ext cx="1070762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548640" y="396849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48640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932688" y="3950208"/>
            <a:ext cx="10707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benefit of managing 30+ VDB implementations with a `match` statement?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932688" y="4297680"/>
            <a:ext cx="1070762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548640" y="5029200"/>
            <a:ext cx="3200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749808" y="5120640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/>
          </a:p>
        </p:txBody>
      </p:sp>
      <p:sp>
        <p:nvSpPr>
          <p:cNvPr id="28" name="Shape 26"/>
          <p:cNvSpPr/>
          <p:nvPr/>
        </p:nvSpPr>
        <p:spPr>
          <a:xfrm>
            <a:off x="768096" y="546811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1024128" y="54132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768096" y="574243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1024128" y="56875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correct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768096" y="601675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1024128" y="59618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1100"/>
          </a:p>
        </p:txBody>
      </p:sp>
      <p:sp>
        <p:nvSpPr>
          <p:cNvPr id="34" name="Shape 32"/>
          <p:cNvSpPr/>
          <p:nvPr/>
        </p:nvSpPr>
        <p:spPr>
          <a:xfrm>
            <a:off x="3977640" y="5029200"/>
            <a:ext cx="766267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4178808" y="5120640"/>
            <a:ext cx="7260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Comment</a:t>
            </a:r>
            <a:endParaRPr lang="en-US" sz="900"/>
          </a:p>
        </p:txBody>
      </p:sp>
      <p:sp>
        <p:nvSpPr>
          <p:cNvPr id="39" name="Answer Field a"/>
          <p:cNvSpPr>
            <a:spLocks noGrp="1"/>
          </p:cNvSpPr>
          <p:nvPr>
            <p:ph type="body" idx="11"/>
          </p:nvPr>
        </p:nvSpPr>
        <p:spPr>
          <a:xfrm>
            <a:off x="1115568" y="2185416"/>
            <a:ext cx="1034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  <p:sp>
        <p:nvSpPr>
          <p:cNvPr id="40" name="Answer Field b"/>
          <p:cNvSpPr>
            <a:spLocks noGrp="1"/>
          </p:cNvSpPr>
          <p:nvPr>
            <p:ph type="body" idx="12"/>
          </p:nvPr>
        </p:nvSpPr>
        <p:spPr>
          <a:xfrm>
            <a:off x="1115568" y="3282696"/>
            <a:ext cx="1034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  <p:sp>
        <p:nvSpPr>
          <p:cNvPr id="41" name="Answer Field c"/>
          <p:cNvSpPr>
            <a:spLocks noGrp="1"/>
          </p:cNvSpPr>
          <p:nvPr>
            <p:ph type="body" idx="13"/>
          </p:nvPr>
        </p:nvSpPr>
        <p:spPr>
          <a:xfrm>
            <a:off x="1115568" y="4379976"/>
            <a:ext cx="1034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  <p:sp>
        <p:nvSpPr>
          <p:cNvPr id="42" name="Instructor Comment Field"/>
          <p:cNvSpPr>
            <a:spLocks noGrp="1"/>
          </p:cNvSpPr>
          <p:nvPr>
            <p:ph type="body" idx="15"/>
          </p:nvPr>
        </p:nvSpPr>
        <p:spPr>
          <a:xfrm>
            <a:off x="4197096" y="548640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960120" cy="365760"/>
          </a:xfrm>
          <a:prstGeom prst="roundRect">
            <a:avLst>
              <a:gd name="adj" fmla="val 17500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1600200" y="365760"/>
            <a:ext cx="777240" cy="365760"/>
          </a:xfrm>
          <a:prstGeom prst="roundRect">
            <a:avLst>
              <a:gd name="adj" fmla="val 17500"/>
            </a:avLst>
          </a:prstGeom>
          <a:solidFill>
            <a:srgbClr val="E07A3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600200" y="3657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5971032" y="365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and LLM Provider Integration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Quiz — With and Without Reranking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A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e-MOI Pre-Training Week 2 — Exercise Answer Sheet  |  16</a:t>
            </a:r>
            <a:endParaRPr lang="en-US" sz="800"/>
          </a:p>
        </p:txBody>
      </p:sp>
      <p:sp>
        <p:nvSpPr>
          <p:cNvPr id="9" name="Shape 7"/>
          <p:cNvSpPr/>
          <p:nvPr/>
        </p:nvSpPr>
        <p:spPr>
          <a:xfrm>
            <a:off x="548640" y="1188720"/>
            <a:ext cx="11091672" cy="475488"/>
          </a:xfrm>
          <a:prstGeom prst="roundRect">
            <a:avLst>
              <a:gd name="adj" fmla="val 9615"/>
            </a:avLst>
          </a:prstGeom>
          <a:solidFill>
            <a:srgbClr val="F1F4F6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49808" y="1188720"/>
            <a:ext cx="1068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processing flow differ with and without reranking?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548640" y="177393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48640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932688" y="1755648"/>
            <a:ext cx="10707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differs in the returned `list[Document]` when `reranking_model` is `None` versus set?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932688" y="2103120"/>
            <a:ext cx="1070762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548640" y="287121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48640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932688" y="2852928"/>
            <a:ext cx="10707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from the code why `RerankMode.WEIGHTED_SCORE` incurs no additional API cost.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932688" y="3200400"/>
            <a:ext cx="1070762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548640" y="396849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48640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932688" y="3950208"/>
            <a:ext cx="10707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`score_threshold` applied before or after reranking?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932688" y="4297680"/>
            <a:ext cx="1070762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548640" y="5029200"/>
            <a:ext cx="3200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749808" y="5120640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/>
          </a:p>
        </p:txBody>
      </p:sp>
      <p:sp>
        <p:nvSpPr>
          <p:cNvPr id="28" name="Shape 26"/>
          <p:cNvSpPr/>
          <p:nvPr/>
        </p:nvSpPr>
        <p:spPr>
          <a:xfrm>
            <a:off x="768096" y="546811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1024128" y="54132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768096" y="574243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1024128" y="56875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correct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768096" y="601675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1024128" y="59618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1100"/>
          </a:p>
        </p:txBody>
      </p:sp>
      <p:sp>
        <p:nvSpPr>
          <p:cNvPr id="34" name="Shape 32"/>
          <p:cNvSpPr/>
          <p:nvPr/>
        </p:nvSpPr>
        <p:spPr>
          <a:xfrm>
            <a:off x="3977640" y="5029200"/>
            <a:ext cx="766267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4178808" y="5120640"/>
            <a:ext cx="7260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Comment</a:t>
            </a:r>
            <a:endParaRPr lang="en-US" sz="900"/>
          </a:p>
        </p:txBody>
      </p:sp>
      <p:sp>
        <p:nvSpPr>
          <p:cNvPr id="39" name="Answer Field a"/>
          <p:cNvSpPr>
            <a:spLocks noGrp="1"/>
          </p:cNvSpPr>
          <p:nvPr>
            <p:ph type="body" idx="11"/>
          </p:nvPr>
        </p:nvSpPr>
        <p:spPr>
          <a:xfrm>
            <a:off x="1115568" y="2185416"/>
            <a:ext cx="1034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  <p:sp>
        <p:nvSpPr>
          <p:cNvPr id="40" name="Answer Field b"/>
          <p:cNvSpPr>
            <a:spLocks noGrp="1"/>
          </p:cNvSpPr>
          <p:nvPr>
            <p:ph type="body" idx="12"/>
          </p:nvPr>
        </p:nvSpPr>
        <p:spPr>
          <a:xfrm>
            <a:off x="1115568" y="3282696"/>
            <a:ext cx="1034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  <p:sp>
        <p:nvSpPr>
          <p:cNvPr id="41" name="Answer Field c"/>
          <p:cNvSpPr>
            <a:spLocks noGrp="1"/>
          </p:cNvSpPr>
          <p:nvPr>
            <p:ph type="body" idx="13"/>
          </p:nvPr>
        </p:nvSpPr>
        <p:spPr>
          <a:xfrm>
            <a:off x="1115568" y="4379976"/>
            <a:ext cx="1034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  <p:sp>
        <p:nvSpPr>
          <p:cNvPr id="42" name="Instructor Comment Field"/>
          <p:cNvSpPr>
            <a:spLocks noGrp="1"/>
          </p:cNvSpPr>
          <p:nvPr>
            <p:ph type="body" idx="15"/>
          </p:nvPr>
        </p:nvSpPr>
        <p:spPr>
          <a:xfrm>
            <a:off x="4197096" y="548640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960120" cy="365760"/>
          </a:xfrm>
          <a:prstGeom prst="roundRect">
            <a:avLst>
              <a:gd name="adj" fmla="val 17500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1600200" y="365760"/>
            <a:ext cx="777240" cy="365760"/>
          </a:xfrm>
          <a:prstGeom prst="roundRect">
            <a:avLst>
              <a:gd name="adj" fmla="val 17500"/>
            </a:avLst>
          </a:prstGeom>
          <a:solidFill>
            <a:srgbClr val="E07A3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600200" y="3657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5971032" y="365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and LLM Provider Integration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Quiz — CacheEmbedding Caching Strategy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A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e-MOI Pre-Training Week 2 — Exercise Answer Sheet  |  17</a:t>
            </a:r>
            <a:endParaRPr lang="en-US" sz="800"/>
          </a:p>
        </p:txBody>
      </p:sp>
      <p:sp>
        <p:nvSpPr>
          <p:cNvPr id="9" name="Shape 7"/>
          <p:cNvSpPr/>
          <p:nvPr/>
        </p:nvSpPr>
        <p:spPr>
          <a:xfrm>
            <a:off x="548640" y="1188720"/>
            <a:ext cx="11091672" cy="475488"/>
          </a:xfrm>
          <a:prstGeom prst="roundRect">
            <a:avLst>
              <a:gd name="adj" fmla="val 9615"/>
            </a:avLst>
          </a:prstGeom>
          <a:solidFill>
            <a:srgbClr val="F1F4F6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49808" y="1188720"/>
            <a:ext cx="1068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caching strategy of CacheEmbedding.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548640" y="177393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48640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932688" y="1755648"/>
            <a:ext cx="10707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document vectors cached (Redis or DB)? Is there a TTL?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932688" y="2103120"/>
            <a:ext cx="1070762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548640" y="287121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48640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932688" y="2852928"/>
            <a:ext cx="10707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query vectors cached? What is the TTL in seconds?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932688" y="3200400"/>
            <a:ext cx="1070762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548640" y="396849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48640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932688" y="3950208"/>
            <a:ext cx="10707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documents and queries use different cache locations? Explain the design intent.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932688" y="4297680"/>
            <a:ext cx="1070762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548640" y="5029200"/>
            <a:ext cx="3200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749808" y="5120640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/>
          </a:p>
        </p:txBody>
      </p:sp>
      <p:sp>
        <p:nvSpPr>
          <p:cNvPr id="28" name="Shape 26"/>
          <p:cNvSpPr/>
          <p:nvPr/>
        </p:nvSpPr>
        <p:spPr>
          <a:xfrm>
            <a:off x="768096" y="546811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1024128" y="54132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768096" y="574243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1024128" y="56875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correct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768096" y="601675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1024128" y="59618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1100"/>
          </a:p>
        </p:txBody>
      </p:sp>
      <p:sp>
        <p:nvSpPr>
          <p:cNvPr id="34" name="Shape 32"/>
          <p:cNvSpPr/>
          <p:nvPr/>
        </p:nvSpPr>
        <p:spPr>
          <a:xfrm>
            <a:off x="3977640" y="5029200"/>
            <a:ext cx="766267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4178808" y="5120640"/>
            <a:ext cx="7260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Comment</a:t>
            </a:r>
            <a:endParaRPr lang="en-US" sz="900"/>
          </a:p>
        </p:txBody>
      </p:sp>
      <p:sp>
        <p:nvSpPr>
          <p:cNvPr id="39" name="Answer Field a"/>
          <p:cNvSpPr>
            <a:spLocks noGrp="1"/>
          </p:cNvSpPr>
          <p:nvPr>
            <p:ph type="body" idx="11"/>
          </p:nvPr>
        </p:nvSpPr>
        <p:spPr>
          <a:xfrm>
            <a:off x="1115568" y="2185416"/>
            <a:ext cx="1034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  <p:sp>
        <p:nvSpPr>
          <p:cNvPr id="40" name="Answer Field b"/>
          <p:cNvSpPr>
            <a:spLocks noGrp="1"/>
          </p:cNvSpPr>
          <p:nvPr>
            <p:ph type="body" idx="12"/>
          </p:nvPr>
        </p:nvSpPr>
        <p:spPr>
          <a:xfrm>
            <a:off x="1115568" y="3282696"/>
            <a:ext cx="1034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  <p:sp>
        <p:nvSpPr>
          <p:cNvPr id="41" name="Answer Field c"/>
          <p:cNvSpPr>
            <a:spLocks noGrp="1"/>
          </p:cNvSpPr>
          <p:nvPr>
            <p:ph type="body" idx="13"/>
          </p:nvPr>
        </p:nvSpPr>
        <p:spPr>
          <a:xfrm>
            <a:off x="1115568" y="4379976"/>
            <a:ext cx="1034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  <p:sp>
        <p:nvSpPr>
          <p:cNvPr id="42" name="Instructor Comment Field"/>
          <p:cNvSpPr>
            <a:spLocks noGrp="1"/>
          </p:cNvSpPr>
          <p:nvPr>
            <p:ph type="body" idx="15"/>
          </p:nvPr>
        </p:nvSpPr>
        <p:spPr>
          <a:xfrm>
            <a:off x="4197096" y="548640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960120" cy="365760"/>
          </a:xfrm>
          <a:prstGeom prst="roundRect">
            <a:avLst>
              <a:gd name="adj" fmla="val 17500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1600200" y="365760"/>
            <a:ext cx="1051560" cy="365760"/>
          </a:xfrm>
          <a:prstGeom prst="roundRect">
            <a:avLst>
              <a:gd name="adj" fmla="val 17500"/>
            </a:avLst>
          </a:prstGeom>
          <a:solidFill>
            <a:srgbClr val="E07A3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600200" y="3657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①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5971032" y="365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Execution Engine, Workflows, and Agents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Exercise: Draw the Workflow Execution Flow (50 min)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A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e-MOI Pre-Training Week 2 — Exercise Answer Sheet  |  18</a:t>
            </a:r>
            <a:endParaRPr lang="en-US" sz="80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11091672" cy="475488"/>
          </a:xfrm>
          <a:prstGeom prst="roundRect">
            <a:avLst>
              <a:gd name="adj" fmla="val 9615"/>
            </a:avLst>
          </a:prstGeom>
          <a:solidFill>
            <a:srgbClr val="F1F4F6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49808" y="1371600"/>
            <a:ext cx="1068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to read: `workflow_entry.py` / `graph_engine.py` / `graph.py` / `nodes/base/node.py` / `nodes/llm/node.py` / `variable_pool.py`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397764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749808" y="2121408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to include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768096" y="2487168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1005840" y="24048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 from `WorkflowEntry` generating `GraphEngine`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768096" y="2852928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1005840" y="27706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START node is placed in `ready_queue`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768096" y="3218688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1005840" y="31363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`WorkerPool` executes nodes in parallel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768096" y="3584448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1005840" y="35021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`LLMNode._run()` references `VariablePool`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768096" y="3950208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1005840" y="38679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next node is added to `ready_queue` after a node completes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768096" y="4315968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1005840" y="42336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`GraphRunSucceededEvent` is emitted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4800600" y="2011680"/>
            <a:ext cx="6839712" cy="2788920"/>
          </a:xfrm>
          <a:prstGeom prst="roundRect">
            <a:avLst>
              <a:gd name="adj" fmla="val 1967"/>
            </a:avLst>
          </a:prstGeom>
          <a:solidFill>
            <a:srgbClr val="FAFCFD"/>
          </a:solidFill>
          <a:ln w="12700">
            <a:solidFill>
              <a:srgbClr val="6B7A86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5074920" y="2121408"/>
            <a:ext cx="6291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diagram image here, or type your diagram / notes in the field below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548640" y="4983480"/>
            <a:ext cx="3200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749808" y="5074920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/>
          </a:p>
        </p:txBody>
      </p:sp>
      <p:sp>
        <p:nvSpPr>
          <p:cNvPr id="29" name="Shape 27"/>
          <p:cNvSpPr/>
          <p:nvPr/>
        </p:nvSpPr>
        <p:spPr>
          <a:xfrm>
            <a:off x="768096" y="542239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1024128" y="53675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/>
          </a:p>
        </p:txBody>
      </p:sp>
      <p:sp>
        <p:nvSpPr>
          <p:cNvPr id="31" name="Shape 29"/>
          <p:cNvSpPr/>
          <p:nvPr/>
        </p:nvSpPr>
        <p:spPr>
          <a:xfrm>
            <a:off x="768096" y="569671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1024128" y="56418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correct</a:t>
            </a:r>
            <a:endParaRPr lang="en-US" sz="1100"/>
          </a:p>
        </p:txBody>
      </p:sp>
      <p:sp>
        <p:nvSpPr>
          <p:cNvPr id="33" name="Shape 31"/>
          <p:cNvSpPr/>
          <p:nvPr/>
        </p:nvSpPr>
        <p:spPr>
          <a:xfrm>
            <a:off x="768096" y="597103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1024128" y="59161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1100"/>
          </a:p>
        </p:txBody>
      </p:sp>
      <p:sp>
        <p:nvSpPr>
          <p:cNvPr id="35" name="Shape 33"/>
          <p:cNvSpPr/>
          <p:nvPr/>
        </p:nvSpPr>
        <p:spPr>
          <a:xfrm>
            <a:off x="3977640" y="4983480"/>
            <a:ext cx="766267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4178808" y="5074920"/>
            <a:ext cx="7260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Comment</a:t>
            </a:r>
            <a:endParaRPr lang="en-US" sz="900"/>
          </a:p>
        </p:txBody>
      </p:sp>
      <p:sp>
        <p:nvSpPr>
          <p:cNvPr id="40" name="Diagram / Notes Field"/>
          <p:cNvSpPr>
            <a:spLocks noGrp="1"/>
          </p:cNvSpPr>
          <p:nvPr>
            <p:ph type="body" idx="14"/>
          </p:nvPr>
        </p:nvSpPr>
        <p:spPr>
          <a:xfrm>
            <a:off x="5029200" y="2505456"/>
            <a:ext cx="6382512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  <p:sp>
        <p:nvSpPr>
          <p:cNvPr id="41" name="Instructor Comment Field"/>
          <p:cNvSpPr>
            <a:spLocks noGrp="1"/>
          </p:cNvSpPr>
          <p:nvPr>
            <p:ph type="body" idx="15"/>
          </p:nvPr>
        </p:nvSpPr>
        <p:spPr>
          <a:xfrm>
            <a:off x="4197096" y="544068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960120" cy="365760"/>
          </a:xfrm>
          <a:prstGeom prst="roundRect">
            <a:avLst>
              <a:gd name="adj" fmla="val 17500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1600200" y="365760"/>
            <a:ext cx="777240" cy="365760"/>
          </a:xfrm>
          <a:prstGeom prst="roundRect">
            <a:avLst>
              <a:gd name="adj" fmla="val 17500"/>
            </a:avLst>
          </a:prstGeom>
          <a:solidFill>
            <a:srgbClr val="E07A3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600200" y="3657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5971032" y="365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Execution Engine, Workflows, and Agents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Quiz — The FC Agent Tool Call Loop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A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e-MOI Pre-Training Week 2 — Exercise Answer Sheet  |  19</a:t>
            </a:r>
            <a:endParaRPr lang="en-US" sz="800"/>
          </a:p>
        </p:txBody>
      </p:sp>
      <p:sp>
        <p:nvSpPr>
          <p:cNvPr id="9" name="Shape 7"/>
          <p:cNvSpPr/>
          <p:nvPr/>
        </p:nvSpPr>
        <p:spPr>
          <a:xfrm>
            <a:off x="548640" y="1188720"/>
            <a:ext cx="11091672" cy="475488"/>
          </a:xfrm>
          <a:prstGeom prst="roundRect">
            <a:avLst>
              <a:gd name="adj" fmla="val 9615"/>
            </a:avLst>
          </a:prstGeom>
          <a:solidFill>
            <a:srgbClr val="F1F4F6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49808" y="1188720"/>
            <a:ext cx="1068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tool call loop of the FC agent.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548640" y="177393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48640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932688" y="1755648"/>
            <a:ext cx="10707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two variables used for loop control.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932688" y="2103120"/>
            <a:ext cx="1070762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548640" y="287121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48640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932688" y="2852928"/>
            <a:ext cx="10707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LLM returns text without calling a tool, how does the loop end?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932688" y="3200400"/>
            <a:ext cx="1070762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548640" y="396849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48640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932688" y="3950208"/>
            <a:ext cx="10707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the loop when the maximum number of iterations is reached?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932688" y="4297680"/>
            <a:ext cx="1070762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548640" y="5029200"/>
            <a:ext cx="3200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749808" y="5120640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/>
          </a:p>
        </p:txBody>
      </p:sp>
      <p:sp>
        <p:nvSpPr>
          <p:cNvPr id="28" name="Shape 26"/>
          <p:cNvSpPr/>
          <p:nvPr/>
        </p:nvSpPr>
        <p:spPr>
          <a:xfrm>
            <a:off x="768096" y="546811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1024128" y="54132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768096" y="574243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1024128" y="56875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correct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768096" y="601675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1024128" y="59618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1100"/>
          </a:p>
        </p:txBody>
      </p:sp>
      <p:sp>
        <p:nvSpPr>
          <p:cNvPr id="34" name="Shape 32"/>
          <p:cNvSpPr/>
          <p:nvPr/>
        </p:nvSpPr>
        <p:spPr>
          <a:xfrm>
            <a:off x="3977640" y="5029200"/>
            <a:ext cx="766267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4178808" y="5120640"/>
            <a:ext cx="7260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Comment</a:t>
            </a:r>
            <a:endParaRPr lang="en-US" sz="900"/>
          </a:p>
        </p:txBody>
      </p:sp>
      <p:sp>
        <p:nvSpPr>
          <p:cNvPr id="39" name="Answer Field a"/>
          <p:cNvSpPr>
            <a:spLocks noGrp="1"/>
          </p:cNvSpPr>
          <p:nvPr>
            <p:ph type="body" idx="11"/>
          </p:nvPr>
        </p:nvSpPr>
        <p:spPr>
          <a:xfrm>
            <a:off x="1115568" y="2185416"/>
            <a:ext cx="1034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  <p:sp>
        <p:nvSpPr>
          <p:cNvPr id="40" name="Answer Field b"/>
          <p:cNvSpPr>
            <a:spLocks noGrp="1"/>
          </p:cNvSpPr>
          <p:nvPr>
            <p:ph type="body" idx="12"/>
          </p:nvPr>
        </p:nvSpPr>
        <p:spPr>
          <a:xfrm>
            <a:off x="1115568" y="3282696"/>
            <a:ext cx="1034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  <p:sp>
        <p:nvSpPr>
          <p:cNvPr id="41" name="Answer Field c"/>
          <p:cNvSpPr>
            <a:spLocks noGrp="1"/>
          </p:cNvSpPr>
          <p:nvPr>
            <p:ph type="body" idx="13"/>
          </p:nvPr>
        </p:nvSpPr>
        <p:spPr>
          <a:xfrm>
            <a:off x="1115568" y="4379976"/>
            <a:ext cx="1034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  <p:sp>
        <p:nvSpPr>
          <p:cNvPr id="42" name="Instructor Comment Field"/>
          <p:cNvSpPr>
            <a:spLocks noGrp="1"/>
          </p:cNvSpPr>
          <p:nvPr>
            <p:ph type="body" idx="15"/>
          </p:nvPr>
        </p:nvSpPr>
        <p:spPr>
          <a:xfrm>
            <a:off x="4197096" y="548640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960120" cy="365760"/>
          </a:xfrm>
          <a:prstGeom prst="roundRect">
            <a:avLst>
              <a:gd name="adj" fmla="val 17500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1600200" y="365760"/>
            <a:ext cx="777240" cy="365760"/>
          </a:xfrm>
          <a:prstGeom prst="roundRect">
            <a:avLst>
              <a:gd name="adj" fmla="val 17500"/>
            </a:avLst>
          </a:prstGeom>
          <a:solidFill>
            <a:srgbClr val="E07A3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600200" y="3657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5971032" y="365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Execution Engine, Workflows, and Agents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Quiz — CoT versus FC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A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e-MOI Pre-Training Week 2 — Exercise Answer Sheet  |  20</a:t>
            </a:r>
            <a:endParaRPr lang="en-US" sz="800"/>
          </a:p>
        </p:txBody>
      </p:sp>
      <p:sp>
        <p:nvSpPr>
          <p:cNvPr id="9" name="Shape 7"/>
          <p:cNvSpPr/>
          <p:nvPr/>
        </p:nvSpPr>
        <p:spPr>
          <a:xfrm>
            <a:off x="548640" y="1188720"/>
            <a:ext cx="11091672" cy="475488"/>
          </a:xfrm>
          <a:prstGeom prst="roundRect">
            <a:avLst>
              <a:gd name="adj" fmla="val 9615"/>
            </a:avLst>
          </a:prstGeom>
          <a:solidFill>
            <a:srgbClr val="F1F4F6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49808" y="1188720"/>
            <a:ext cx="1068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in how tool call results are handled between CoT and FC.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548640" y="177393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48640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932688" y="1755648"/>
            <a:ext cx="10707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adding the tool result to the next iteration's prompt, how does the format differ?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932688" y="2103120"/>
            <a:ext cx="1070762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548640" y="287121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48640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932688" y="2852928"/>
            <a:ext cx="10707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CoT use `stop=["Observation:"]`? Does FC use `stop`?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932688" y="3200400"/>
            <a:ext cx="1070762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548640" y="396849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48640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932688" y="3950208"/>
            <a:ext cx="10707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each of CoT and FC pass tool definitions to the LLM?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932688" y="4297680"/>
            <a:ext cx="1070762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548640" y="5029200"/>
            <a:ext cx="3200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749808" y="5120640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/>
          </a:p>
        </p:txBody>
      </p:sp>
      <p:sp>
        <p:nvSpPr>
          <p:cNvPr id="28" name="Shape 26"/>
          <p:cNvSpPr/>
          <p:nvPr/>
        </p:nvSpPr>
        <p:spPr>
          <a:xfrm>
            <a:off x="768096" y="546811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1024128" y="54132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768096" y="574243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1024128" y="56875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correct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768096" y="601675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1024128" y="59618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1100"/>
          </a:p>
        </p:txBody>
      </p:sp>
      <p:sp>
        <p:nvSpPr>
          <p:cNvPr id="34" name="Shape 32"/>
          <p:cNvSpPr/>
          <p:nvPr/>
        </p:nvSpPr>
        <p:spPr>
          <a:xfrm>
            <a:off x="3977640" y="5029200"/>
            <a:ext cx="766267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4178808" y="5120640"/>
            <a:ext cx="7260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Comment</a:t>
            </a:r>
            <a:endParaRPr lang="en-US" sz="900"/>
          </a:p>
        </p:txBody>
      </p:sp>
      <p:sp>
        <p:nvSpPr>
          <p:cNvPr id="39" name="Answer Field a"/>
          <p:cNvSpPr>
            <a:spLocks noGrp="1"/>
          </p:cNvSpPr>
          <p:nvPr>
            <p:ph type="body" idx="11"/>
          </p:nvPr>
        </p:nvSpPr>
        <p:spPr>
          <a:xfrm>
            <a:off x="1115568" y="2185416"/>
            <a:ext cx="1034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  <p:sp>
        <p:nvSpPr>
          <p:cNvPr id="40" name="Answer Field b"/>
          <p:cNvSpPr>
            <a:spLocks noGrp="1"/>
          </p:cNvSpPr>
          <p:nvPr>
            <p:ph type="body" idx="12"/>
          </p:nvPr>
        </p:nvSpPr>
        <p:spPr>
          <a:xfrm>
            <a:off x="1115568" y="3282696"/>
            <a:ext cx="1034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  <p:sp>
        <p:nvSpPr>
          <p:cNvPr id="41" name="Answer Field c"/>
          <p:cNvSpPr>
            <a:spLocks noGrp="1"/>
          </p:cNvSpPr>
          <p:nvPr>
            <p:ph type="body" idx="13"/>
          </p:nvPr>
        </p:nvSpPr>
        <p:spPr>
          <a:xfrm>
            <a:off x="1115568" y="4379976"/>
            <a:ext cx="1034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  <p:sp>
        <p:nvSpPr>
          <p:cNvPr id="42" name="Instructor Comment Field"/>
          <p:cNvSpPr>
            <a:spLocks noGrp="1"/>
          </p:cNvSpPr>
          <p:nvPr>
            <p:ph type="body" idx="15"/>
          </p:nvPr>
        </p:nvSpPr>
        <p:spPr>
          <a:xfrm>
            <a:off x="4197096" y="548640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960120" cy="365760"/>
          </a:xfrm>
          <a:prstGeom prst="roundRect">
            <a:avLst>
              <a:gd name="adj" fmla="val 17500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1600200" y="365760"/>
            <a:ext cx="777240" cy="365760"/>
          </a:xfrm>
          <a:prstGeom prst="roundRect">
            <a:avLst>
              <a:gd name="adj" fmla="val 17500"/>
            </a:avLst>
          </a:prstGeom>
          <a:solidFill>
            <a:srgbClr val="E07A3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600200" y="3657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5971032" y="365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Execution Engine, Workflows, and Agents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Quiz — Adding a New Node Type (Comprehensive)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A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e-MOI Pre-Training Week 2 — Exercise Answer Sheet  |  21</a:t>
            </a:r>
            <a:endParaRPr lang="en-US" sz="800"/>
          </a:p>
        </p:txBody>
      </p:sp>
      <p:sp>
        <p:nvSpPr>
          <p:cNvPr id="9" name="Shape 7"/>
          <p:cNvSpPr/>
          <p:nvPr/>
        </p:nvSpPr>
        <p:spPr>
          <a:xfrm>
            <a:off x="548640" y="1188720"/>
            <a:ext cx="11091672" cy="475488"/>
          </a:xfrm>
          <a:prstGeom prst="roundRect">
            <a:avLst>
              <a:gd name="adj" fmla="val 9615"/>
            </a:avLst>
          </a:prstGeom>
          <a:solidFill>
            <a:srgbClr val="F1F4F6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49808" y="1188720"/>
            <a:ext cx="1068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change when adding a new node type (comprehensive Day 1-4 question).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548640" y="177393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48640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932688" y="1755648"/>
            <a:ext cx="10707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newly implement `MyNode(Node)`, does that alone make it usable from a workflow? Where is registration actually required?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932688" y="2103120"/>
            <a:ext cx="1070762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548640" y="287121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48640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932688" y="2852928"/>
            <a:ext cx="10707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Besides the registration found in (a), list all the files that need to change.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932688" y="3200400"/>
            <a:ext cx="1070762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548640" y="396849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48640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932688" y="3950208"/>
            <a:ext cx="10707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`NodeExecutionType` is `BRANCH`, how does `EdgeProcessor` behave differently?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932688" y="4297680"/>
            <a:ext cx="1070762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548640" y="5029200"/>
            <a:ext cx="3200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749808" y="5120640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/>
          </a:p>
        </p:txBody>
      </p:sp>
      <p:sp>
        <p:nvSpPr>
          <p:cNvPr id="28" name="Shape 26"/>
          <p:cNvSpPr/>
          <p:nvPr/>
        </p:nvSpPr>
        <p:spPr>
          <a:xfrm>
            <a:off x="768096" y="546811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1024128" y="54132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768096" y="574243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1024128" y="56875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correct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768096" y="601675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1024128" y="59618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1100"/>
          </a:p>
        </p:txBody>
      </p:sp>
      <p:sp>
        <p:nvSpPr>
          <p:cNvPr id="34" name="Shape 32"/>
          <p:cNvSpPr/>
          <p:nvPr/>
        </p:nvSpPr>
        <p:spPr>
          <a:xfrm>
            <a:off x="3977640" y="5029200"/>
            <a:ext cx="766267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4178808" y="5120640"/>
            <a:ext cx="7260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Comment</a:t>
            </a:r>
            <a:endParaRPr lang="en-US" sz="900"/>
          </a:p>
        </p:txBody>
      </p:sp>
      <p:sp>
        <p:nvSpPr>
          <p:cNvPr id="39" name="Answer Field a"/>
          <p:cNvSpPr>
            <a:spLocks noGrp="1"/>
          </p:cNvSpPr>
          <p:nvPr>
            <p:ph type="body" idx="11"/>
          </p:nvPr>
        </p:nvSpPr>
        <p:spPr>
          <a:xfrm>
            <a:off x="1115568" y="2185416"/>
            <a:ext cx="1034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  <p:sp>
        <p:nvSpPr>
          <p:cNvPr id="40" name="Answer Field b"/>
          <p:cNvSpPr>
            <a:spLocks noGrp="1"/>
          </p:cNvSpPr>
          <p:nvPr>
            <p:ph type="body" idx="12"/>
          </p:nvPr>
        </p:nvSpPr>
        <p:spPr>
          <a:xfrm>
            <a:off x="1115568" y="3282696"/>
            <a:ext cx="1034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  <p:sp>
        <p:nvSpPr>
          <p:cNvPr id="41" name="Answer Field c"/>
          <p:cNvSpPr>
            <a:spLocks noGrp="1"/>
          </p:cNvSpPr>
          <p:nvPr>
            <p:ph type="body" idx="13"/>
          </p:nvPr>
        </p:nvSpPr>
        <p:spPr>
          <a:xfrm>
            <a:off x="1115568" y="4379976"/>
            <a:ext cx="1034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  <p:sp>
        <p:nvSpPr>
          <p:cNvPr id="42" name="Instructor Comment Field"/>
          <p:cNvSpPr>
            <a:spLocks noGrp="1"/>
          </p:cNvSpPr>
          <p:nvPr>
            <p:ph type="body" idx="15"/>
          </p:nvPr>
        </p:nvSpPr>
        <p:spPr>
          <a:xfrm>
            <a:off x="4197096" y="548640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960120" cy="365760"/>
          </a:xfrm>
          <a:prstGeom prst="roundRect">
            <a:avLst>
              <a:gd name="adj" fmla="val 17500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1600200" y="365760"/>
            <a:ext cx="777240" cy="365760"/>
          </a:xfrm>
          <a:prstGeom prst="roundRect">
            <a:avLst>
              <a:gd name="adj" fmla="val 17500"/>
            </a:avLst>
          </a:prstGeom>
          <a:solidFill>
            <a:srgbClr val="E07A3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600200" y="3657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5971032" y="365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Execution Engine, Workflows, and Agents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Quiz — The VariablePool Selector System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A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e-MOI Pre-Training Week 2 — Exercise Answer Sheet  |  22</a:t>
            </a:r>
            <a:endParaRPr lang="en-US" sz="800"/>
          </a:p>
        </p:txBody>
      </p:sp>
      <p:sp>
        <p:nvSpPr>
          <p:cNvPr id="9" name="Shape 7"/>
          <p:cNvSpPr/>
          <p:nvPr/>
        </p:nvSpPr>
        <p:spPr>
          <a:xfrm>
            <a:off x="548640" y="1188720"/>
            <a:ext cx="11091672" cy="475488"/>
          </a:xfrm>
          <a:prstGeom prst="roundRect">
            <a:avLst>
              <a:gd name="adj" fmla="val 9615"/>
            </a:avLst>
          </a:prstGeom>
          <a:solidFill>
            <a:srgbClr val="F1F4F6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49808" y="1188720"/>
            <a:ext cx="1068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 START → LLMNode(id="node_abc") → IfElseNode(id="node_def"), where the LLM node outputs outputs = {"text": "The weather in Tokyo is sunny", ...}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548640" y="177393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48640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932688" y="1755648"/>
            <a:ext cx="10707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IfElseNode's condition settings, how do you write the selector to test whether the LLM output text contains "sunny"?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932688" y="2103120"/>
            <a:ext cx="1070762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548640" y="287121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48640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932688" y="2852928"/>
            <a:ext cx="10707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use the START node's (id="start_node") user input "query" as LLM node input, how do you write the template string?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932688" y="3200400"/>
            <a:ext cx="1070762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548640" y="396849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430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48640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932688" y="3950208"/>
            <a:ext cx="10707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express the type of `VariablePool.variable_dictionary` using `defaultdict`?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932688" y="4297680"/>
            <a:ext cx="1070762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548640" y="5029200"/>
            <a:ext cx="3200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749808" y="5120640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/>
          </a:p>
        </p:txBody>
      </p:sp>
      <p:sp>
        <p:nvSpPr>
          <p:cNvPr id="28" name="Shape 26"/>
          <p:cNvSpPr/>
          <p:nvPr/>
        </p:nvSpPr>
        <p:spPr>
          <a:xfrm>
            <a:off x="768096" y="546811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1024128" y="54132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768096" y="574243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1024128" y="56875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correct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768096" y="6016752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1024128" y="59618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1100"/>
          </a:p>
        </p:txBody>
      </p:sp>
      <p:sp>
        <p:nvSpPr>
          <p:cNvPr id="34" name="Shape 32"/>
          <p:cNvSpPr/>
          <p:nvPr/>
        </p:nvSpPr>
        <p:spPr>
          <a:xfrm>
            <a:off x="3977640" y="5029200"/>
            <a:ext cx="766267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2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4178808" y="5120640"/>
            <a:ext cx="7260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Comment</a:t>
            </a:r>
            <a:endParaRPr lang="en-US" sz="900"/>
          </a:p>
        </p:txBody>
      </p:sp>
      <p:sp>
        <p:nvSpPr>
          <p:cNvPr id="39" name="Answer Field a"/>
          <p:cNvSpPr>
            <a:spLocks noGrp="1"/>
          </p:cNvSpPr>
          <p:nvPr>
            <p:ph type="body" idx="11"/>
          </p:nvPr>
        </p:nvSpPr>
        <p:spPr>
          <a:xfrm>
            <a:off x="1115568" y="2185416"/>
            <a:ext cx="1034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  <p:sp>
        <p:nvSpPr>
          <p:cNvPr id="40" name="Answer Field b"/>
          <p:cNvSpPr>
            <a:spLocks noGrp="1"/>
          </p:cNvSpPr>
          <p:nvPr>
            <p:ph type="body" idx="12"/>
          </p:nvPr>
        </p:nvSpPr>
        <p:spPr>
          <a:xfrm>
            <a:off x="1115568" y="3282696"/>
            <a:ext cx="1034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  <p:sp>
        <p:nvSpPr>
          <p:cNvPr id="41" name="Answer Field c"/>
          <p:cNvSpPr>
            <a:spLocks noGrp="1"/>
          </p:cNvSpPr>
          <p:nvPr>
            <p:ph type="body" idx="13"/>
          </p:nvPr>
        </p:nvSpPr>
        <p:spPr>
          <a:xfrm>
            <a:off x="1115568" y="4379976"/>
            <a:ext cx="1034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  <p:sp>
        <p:nvSpPr>
          <p:cNvPr id="42" name="Instructor Comment Field"/>
          <p:cNvSpPr>
            <a:spLocks noGrp="1"/>
          </p:cNvSpPr>
          <p:nvPr>
            <p:ph type="body" idx="15"/>
          </p:nvPr>
        </p:nvSpPr>
        <p:spPr>
          <a:xfrm>
            <a:off x="4197096" y="548640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ja-JP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2DBC2C430F034ABE24CD909B168C79" ma:contentTypeVersion="11" ma:contentTypeDescription="Create a new document." ma:contentTypeScope="" ma:versionID="e1329e7f97bd980464f7f880414b46a2">
  <xsd:schema xmlns:xsd="http://www.w3.org/2001/XMLSchema" xmlns:xs="http://www.w3.org/2001/XMLSchema" xmlns:p="http://schemas.microsoft.com/office/2006/metadata/properties" xmlns:ns2="a8cda9f5-3c81-4e4a-8550-33a23bf267e8" xmlns:ns3="4906ecdf-ba87-48b9-b888-3fcc6365062b" targetNamespace="http://schemas.microsoft.com/office/2006/metadata/properties" ma:root="true" ma:fieldsID="502b85325cc3fb9b160d8c625b0eaf4c" ns2:_="" ns3:_="">
    <xsd:import namespace="a8cda9f5-3c81-4e4a-8550-33a23bf267e8"/>
    <xsd:import namespace="4906ecdf-ba87-48b9-b888-3fcc636506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cda9f5-3c81-4e4a-8550-33a23bf267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fa5b3511-5af1-44a5-9ff8-fec43d9a85f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06ecdf-ba87-48b9-b888-3fcc6365062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3b6ec01-0a5f-4fbc-bf55-58e2ceae725c}" ma:internalName="TaxCatchAll" ma:showField="CatchAllData" ma:web="4906ecdf-ba87-48b9-b888-3fcc6365062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906ecdf-ba87-48b9-b888-3fcc6365062b" xsi:nil="true"/>
    <lcf76f155ced4ddcb4097134ff3c332f xmlns="a8cda9f5-3c81-4e4a-8550-33a23bf267e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C3366D6-1D6C-4F77-88E5-8021E2FE42B3}">
  <ds:schemaRefs>
    <ds:schemaRef ds:uri="4906ecdf-ba87-48b9-b888-3fcc6365062b"/>
    <ds:schemaRef ds:uri="a8cda9f5-3c81-4e4a-8550-33a23bf267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716108C-A41D-412E-B427-5E44EE062F5F}">
  <ds:schemaRefs>
    <ds:schemaRef ds:uri="4906ecdf-ba87-48b9-b888-3fcc6365062b"/>
    <ds:schemaRef ds:uri="a8cda9f5-3c81-4e4a-8550-33a23bf267e8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38E9D98-2D1A-4478-BA4B-0B539BB794C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87245c4-93bb-4517-8c1f-2b9f3f8ad21f}" enabled="0" method="" siteId="{a87245c4-93bb-4517-8c1f-2b9f3f8ad21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20</Slides>
  <Notes>20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Exercise Answer Sheet</dc:title>
  <dc:subject>PptxGenJS Presentation</dc:subject>
  <dc:creator>e-MOI Pre-Training</dc:creator>
  <cp:revision>55</cp:revision>
  <dcterms:created xsi:type="dcterms:W3CDTF">2026-07-28T03:01:29Z</dcterms:created>
  <dcterms:modified xsi:type="dcterms:W3CDTF">2026-08-05T04:28:36Z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0x010100742DBC2C430F034ABE24CD909B168C79</vt:lpwstr>
  </property>
  <property fmtid="{D5CDD505-2E9C-101B-9397-08002B2CF9AE}" pid="3" name="MediaServiceImageTags">
    <vt:lpwstr/>
  </property>
</Properties>
</file>